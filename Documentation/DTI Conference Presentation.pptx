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Arimo"/>
      <p:regular r:id="rId27"/>
    </p:embeddedFont>
    <p:embeddedFont>
      <p:font typeface="Arimo Bold"/>
      <p:regular r:id="rId28"/>
    </p:embeddedFont>
    <p:embeddedFont>
      <p:font typeface="Fredoka"/>
      <p:regular r:id="rId29"/>
    </p:embeddedFont>
    <p:embeddedFont>
      <p:font typeface="Lilita One"/>
      <p:regular r:id="rId30"/>
    </p:embeddedFont>
    <p:embeddedFont>
      <p:font typeface="Questrial" pitchFamily="2" charset="0"/>
      <p:regular r:id="rId31"/>
    </p:embeddedFont>
    <p:embeddedFont>
      <p:font typeface="Times New Roman Bold" panose="02020803070505020304" pitchFamily="18" charset="0"/>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9E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32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16.11.2024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hyperlink" Target="https://www.google.com/url?sa=i&amp;url=https%3A%2F%2Fmedium.com%2F%40niran_jan%2Fdrug-discovery-what-goes-behind-the-scene-6c0d5c0537a&amp;psig=AOvVaw2SfAMxEqdw1IFEVftPQ9zy&amp;ust=1731752082349000&amp;source=images&amp;cd=vfe&amp;opi=89978449&amp;ved=0CBcQjhxqFwoTCICFpK-N3okDFQAAAAAdAAAAABAQ" TargetMode="External"/><Relationship Id="rId3" Type="http://schemas.openxmlformats.org/officeDocument/2006/relationships/image" Target="../media/image14.png"/><Relationship Id="rId7" Type="http://schemas.openxmlformats.org/officeDocument/2006/relationships/hyperlink" Target="https://www.grandviewresearch.com/industry-analysis/artificial-intelligence-drug-discovery-market"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ncats.nih.gov/sites/default/files/NCATS_RareDiseasesFactSheet.pdf" TargetMode="External"/><Relationship Id="rId5" Type="http://schemas.openxmlformats.org/officeDocument/2006/relationships/image" Target="../media/image16.pn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pn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sv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sv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s://academic.oup.com/bib/article/22/5/bbab117/6231754" TargetMode="External"/><Relationship Id="rId3" Type="http://schemas.openxmlformats.org/officeDocument/2006/relationships/hyperlink" Target="https://bmcgenomics.biomedcentral.com/articles/10.1186/s12864-023-09664-z" TargetMode="External"/><Relationship Id="rId7" Type="http://schemas.openxmlformats.org/officeDocument/2006/relationships/hyperlink" Target="https://academic.oup.com/bioinformatics/article/39/9/btad560/7265395"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academic.oup.com/bioinformatics/article/40/8/btae496/7730008" TargetMode="External"/><Relationship Id="rId5" Type="http://schemas.openxmlformats.org/officeDocument/2006/relationships/hyperlink" Target="https://bmcgenomics.biomedcentral.com/articles/10.1186/s12864-024-10326-x" TargetMode="External"/><Relationship Id="rId4" Type="http://schemas.openxmlformats.org/officeDocument/2006/relationships/hyperlink" Target="https://bmcbioinformatics.biomedcentral.com/articles/10.1186/s12859-024-05698-6"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hyperlink" Target="https://drugtargetinteraction.nicepage.io" TargetMode="External"/><Relationship Id="rId4" Type="http://schemas.openxmlformats.org/officeDocument/2006/relationships/image" Target="../media/image5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0" y="240353"/>
            <a:ext cx="18050818" cy="2698407"/>
          </a:xfrm>
          <a:custGeom>
            <a:avLst/>
            <a:gdLst/>
            <a:ahLst/>
            <a:cxnLst/>
            <a:rect l="l" t="t" r="r" b="b"/>
            <a:pathLst>
              <a:path w="18050818" h="2698407">
                <a:moveTo>
                  <a:pt x="0" y="0"/>
                </a:moveTo>
                <a:lnTo>
                  <a:pt x="18050818" y="0"/>
                </a:lnTo>
                <a:lnTo>
                  <a:pt x="18050818" y="2698407"/>
                </a:lnTo>
                <a:lnTo>
                  <a:pt x="0" y="26984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249650" y="8053708"/>
            <a:ext cx="3391200" cy="2104640"/>
          </a:xfrm>
          <a:custGeom>
            <a:avLst/>
            <a:gdLst/>
            <a:ahLst/>
            <a:cxnLst/>
            <a:rect l="l" t="t" r="r" b="b"/>
            <a:pathLst>
              <a:path w="3391200" h="2104640">
                <a:moveTo>
                  <a:pt x="0" y="0"/>
                </a:moveTo>
                <a:lnTo>
                  <a:pt x="3391200" y="0"/>
                </a:lnTo>
                <a:lnTo>
                  <a:pt x="3391200" y="2104640"/>
                </a:lnTo>
                <a:lnTo>
                  <a:pt x="0" y="2104640"/>
                </a:lnTo>
                <a:lnTo>
                  <a:pt x="0" y="0"/>
                </a:lnTo>
                <a:close/>
              </a:path>
            </a:pathLst>
          </a:custGeom>
          <a:blipFill>
            <a:blip r:embed="rId5"/>
            <a:stretch>
              <a:fillRect t="-30559" b="-30569"/>
            </a:stretch>
          </a:blipFill>
        </p:spPr>
        <p:txBody>
          <a:bodyPr/>
          <a:lstStyle/>
          <a:p>
            <a:endParaRPr lang="en-US"/>
          </a:p>
        </p:txBody>
      </p:sp>
      <p:sp>
        <p:nvSpPr>
          <p:cNvPr id="4" name="TextBox 4"/>
          <p:cNvSpPr txBox="1"/>
          <p:nvPr/>
        </p:nvSpPr>
        <p:spPr>
          <a:xfrm>
            <a:off x="625169" y="3281362"/>
            <a:ext cx="17037793" cy="3609975"/>
          </a:xfrm>
          <a:prstGeom prst="rect">
            <a:avLst/>
          </a:prstGeom>
        </p:spPr>
        <p:txBody>
          <a:bodyPr lIns="0" tIns="0" rIns="0" bIns="0" rtlCol="0" anchor="t">
            <a:spAutoFit/>
          </a:bodyPr>
          <a:lstStyle/>
          <a:p>
            <a:pPr algn="l">
              <a:lnSpc>
                <a:spcPts val="9120"/>
              </a:lnSpc>
            </a:pPr>
            <a:r>
              <a:rPr lang="en-US" sz="7600">
                <a:solidFill>
                  <a:srgbClr val="383030"/>
                </a:solidFill>
                <a:latin typeface="Times New Roman"/>
                <a:ea typeface="Times New Roman"/>
                <a:cs typeface="Times New Roman"/>
                <a:sym typeface="Times New Roman"/>
              </a:rPr>
              <a:t>Drug-Target Interaction prediction via Binding Affinity based on Deep Learning</a:t>
            </a:r>
          </a:p>
          <a:p>
            <a:pPr algn="l">
              <a:lnSpc>
                <a:spcPts val="9120"/>
              </a:lnSpc>
            </a:pPr>
            <a:endParaRPr lang="en-US" sz="7600">
              <a:solidFill>
                <a:srgbClr val="383030"/>
              </a:solidFill>
              <a:latin typeface="Times New Roman"/>
              <a:ea typeface="Times New Roman"/>
              <a:cs typeface="Times New Roman"/>
              <a:sym typeface="Times New Roman"/>
            </a:endParaRPr>
          </a:p>
        </p:txBody>
      </p:sp>
      <p:sp>
        <p:nvSpPr>
          <p:cNvPr id="5" name="TextBox 5"/>
          <p:cNvSpPr txBox="1"/>
          <p:nvPr/>
        </p:nvSpPr>
        <p:spPr>
          <a:xfrm>
            <a:off x="2652655" y="7431916"/>
            <a:ext cx="11538245" cy="1129284"/>
          </a:xfrm>
          <a:prstGeom prst="rect">
            <a:avLst/>
          </a:prstGeom>
        </p:spPr>
        <p:txBody>
          <a:bodyPr lIns="0" tIns="0" rIns="0" bIns="0" rtlCol="0" anchor="t">
            <a:spAutoFit/>
          </a:bodyPr>
          <a:lstStyle/>
          <a:p>
            <a:pPr algn="ctr">
              <a:lnSpc>
                <a:spcPts val="4277"/>
              </a:lnSpc>
            </a:pPr>
            <a:r>
              <a:rPr lang="en-US" sz="3099" b="1">
                <a:solidFill>
                  <a:srgbClr val="383030"/>
                </a:solidFill>
                <a:latin typeface="Times New Roman Bold"/>
                <a:ea typeface="Times New Roman Bold"/>
                <a:cs typeface="Times New Roman Bold"/>
                <a:sym typeface="Times New Roman Bold"/>
              </a:rPr>
              <a:t>N. Elattar*, O. Elkhamisy, S. Abdelkhabir, S. Ezz-Eldeen, S. Ayman, A. Gabr, A. Eldakroury, A. Ali</a:t>
            </a:r>
          </a:p>
        </p:txBody>
      </p:sp>
      <p:sp>
        <p:nvSpPr>
          <p:cNvPr id="6" name="Freeform 6"/>
          <p:cNvSpPr/>
          <p:nvPr/>
        </p:nvSpPr>
        <p:spPr>
          <a:xfrm>
            <a:off x="15680256" y="6480443"/>
            <a:ext cx="2151487" cy="3391351"/>
          </a:xfrm>
          <a:custGeom>
            <a:avLst/>
            <a:gdLst/>
            <a:ahLst/>
            <a:cxnLst/>
            <a:rect l="l" t="t" r="r" b="b"/>
            <a:pathLst>
              <a:path w="2151487" h="3391351">
                <a:moveTo>
                  <a:pt x="0" y="0"/>
                </a:moveTo>
                <a:lnTo>
                  <a:pt x="2151487" y="0"/>
                </a:lnTo>
                <a:lnTo>
                  <a:pt x="2151487" y="3391351"/>
                </a:lnTo>
                <a:lnTo>
                  <a:pt x="0" y="3391351"/>
                </a:lnTo>
                <a:lnTo>
                  <a:pt x="0" y="0"/>
                </a:lnTo>
                <a:close/>
              </a:path>
            </a:pathLst>
          </a:custGeom>
          <a:blipFill>
            <a:blip r:embed="rId6"/>
            <a:stretch>
              <a:fillRect l="-47469" t="-11838" r="-47469" b="-11831"/>
            </a:stretch>
          </a:blipFill>
        </p:spPr>
        <p:txBody>
          <a:bodyPr/>
          <a:lstStyle/>
          <a:p>
            <a:endParaRPr lang="en-US"/>
          </a:p>
        </p:txBody>
      </p:sp>
      <p:grpSp>
        <p:nvGrpSpPr>
          <p:cNvPr id="7" name="Group 7"/>
          <p:cNvGrpSpPr/>
          <p:nvPr/>
        </p:nvGrpSpPr>
        <p:grpSpPr>
          <a:xfrm>
            <a:off x="14190900" y="9585239"/>
            <a:ext cx="4097100" cy="573109"/>
            <a:chOff x="0" y="0"/>
            <a:chExt cx="7835200" cy="1096000"/>
          </a:xfrm>
        </p:grpSpPr>
        <p:sp>
          <p:nvSpPr>
            <p:cNvPr id="8" name="Freeform 8"/>
            <p:cNvSpPr/>
            <p:nvPr/>
          </p:nvSpPr>
          <p:spPr>
            <a:xfrm>
              <a:off x="0" y="0"/>
              <a:ext cx="7835138" cy="1096010"/>
            </a:xfrm>
            <a:custGeom>
              <a:avLst/>
              <a:gdLst/>
              <a:ahLst/>
              <a:cxnLst/>
              <a:rect l="l" t="t" r="r" b="b"/>
              <a:pathLst>
                <a:path w="7835138" h="1096010">
                  <a:moveTo>
                    <a:pt x="0" y="548005"/>
                  </a:moveTo>
                  <a:cubicBezTo>
                    <a:pt x="0" y="245364"/>
                    <a:pt x="1753997" y="0"/>
                    <a:pt x="3917569" y="0"/>
                  </a:cubicBezTo>
                  <a:cubicBezTo>
                    <a:pt x="6081141" y="0"/>
                    <a:pt x="7835138" y="245364"/>
                    <a:pt x="7835138" y="548005"/>
                  </a:cubicBezTo>
                  <a:cubicBezTo>
                    <a:pt x="7835138" y="850646"/>
                    <a:pt x="6081268" y="1096010"/>
                    <a:pt x="3917569" y="1096010"/>
                  </a:cubicBezTo>
                  <a:cubicBezTo>
                    <a:pt x="1753870" y="1096010"/>
                    <a:pt x="0" y="850646"/>
                    <a:pt x="0" y="548005"/>
                  </a:cubicBezTo>
                  <a:close/>
                </a:path>
              </a:pathLst>
            </a:custGeom>
            <a:solidFill>
              <a:srgbClr val="383030">
                <a:alpha val="17647"/>
              </a:srgbClr>
            </a:solid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754495" y="-775580"/>
            <a:ext cx="19490748" cy="11463700"/>
          </a:xfrm>
          <a:custGeom>
            <a:avLst/>
            <a:gdLst/>
            <a:ahLst/>
            <a:cxnLst/>
            <a:rect l="l" t="t" r="r" b="b"/>
            <a:pathLst>
              <a:path w="19490748" h="11463700">
                <a:moveTo>
                  <a:pt x="0" y="0"/>
                </a:moveTo>
                <a:lnTo>
                  <a:pt x="19490748" y="0"/>
                </a:lnTo>
                <a:lnTo>
                  <a:pt x="19490748" y="11463700"/>
                </a:lnTo>
                <a:lnTo>
                  <a:pt x="0" y="11463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2430966">
            <a:off x="-1363928" y="3967768"/>
            <a:ext cx="2919064" cy="2919074"/>
          </a:xfrm>
          <a:custGeom>
            <a:avLst/>
            <a:gdLst/>
            <a:ahLst/>
            <a:cxnLst/>
            <a:rect l="l" t="t" r="r" b="b"/>
            <a:pathLst>
              <a:path w="2919064" h="2919074">
                <a:moveTo>
                  <a:pt x="0" y="0"/>
                </a:moveTo>
                <a:lnTo>
                  <a:pt x="2919064" y="0"/>
                </a:lnTo>
                <a:lnTo>
                  <a:pt x="2919064" y="2919074"/>
                </a:lnTo>
                <a:lnTo>
                  <a:pt x="0" y="2919074"/>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2034150" y="1588354"/>
            <a:ext cx="15225150" cy="1152525"/>
          </a:xfrm>
          <a:prstGeom prst="rect">
            <a:avLst/>
          </a:prstGeom>
        </p:spPr>
        <p:txBody>
          <a:bodyPr lIns="0" tIns="0" rIns="0" bIns="0" rtlCol="0" anchor="t">
            <a:spAutoFit/>
          </a:bodyPr>
          <a:lstStyle/>
          <a:p>
            <a:pPr algn="ctr">
              <a:lnSpc>
                <a:spcPts val="9119"/>
              </a:lnSpc>
            </a:pPr>
            <a:r>
              <a:rPr lang="en-US" sz="7599">
                <a:solidFill>
                  <a:srgbClr val="BB945E"/>
                </a:solidFill>
                <a:latin typeface="Fredoka"/>
                <a:ea typeface="Fredoka"/>
                <a:cs typeface="Fredoka"/>
                <a:sym typeface="Fredoka"/>
              </a:rPr>
              <a:t>Table of contents</a:t>
            </a:r>
          </a:p>
        </p:txBody>
      </p:sp>
      <p:sp>
        <p:nvSpPr>
          <p:cNvPr id="5" name="TextBox 5"/>
          <p:cNvSpPr txBox="1"/>
          <p:nvPr/>
        </p:nvSpPr>
        <p:spPr>
          <a:xfrm>
            <a:off x="1713728" y="6436806"/>
            <a:ext cx="4428150" cy="1117473"/>
          </a:xfrm>
          <a:prstGeom prst="rect">
            <a:avLst/>
          </a:prstGeom>
        </p:spPr>
        <p:txBody>
          <a:bodyPr lIns="0" tIns="0" rIns="0" bIns="0" rtlCol="0" anchor="t">
            <a:spAutoFit/>
          </a:bodyPr>
          <a:lstStyle/>
          <a:p>
            <a:pPr algn="ctr">
              <a:lnSpc>
                <a:spcPts val="4415"/>
              </a:lnSpc>
            </a:pPr>
            <a:r>
              <a:rPr lang="en-US" sz="3199">
                <a:solidFill>
                  <a:srgbClr val="383030"/>
                </a:solidFill>
                <a:latin typeface="Arimo"/>
                <a:ea typeface="Arimo"/>
                <a:cs typeface="Arimo"/>
                <a:sym typeface="Arimo"/>
              </a:rPr>
              <a:t>Introduction and Objectives</a:t>
            </a:r>
          </a:p>
        </p:txBody>
      </p:sp>
      <p:sp>
        <p:nvSpPr>
          <p:cNvPr id="6" name="TextBox 6"/>
          <p:cNvSpPr txBox="1"/>
          <p:nvPr/>
        </p:nvSpPr>
        <p:spPr>
          <a:xfrm>
            <a:off x="7112270" y="6436806"/>
            <a:ext cx="4428150" cy="1669923"/>
          </a:xfrm>
          <a:prstGeom prst="rect">
            <a:avLst/>
          </a:prstGeom>
        </p:spPr>
        <p:txBody>
          <a:bodyPr lIns="0" tIns="0" rIns="0" bIns="0" rtlCol="0" anchor="t">
            <a:spAutoFit/>
          </a:bodyPr>
          <a:lstStyle/>
          <a:p>
            <a:pPr algn="ctr">
              <a:lnSpc>
                <a:spcPts val="4415"/>
              </a:lnSpc>
            </a:pPr>
            <a:r>
              <a:rPr lang="en-US" sz="3199">
                <a:solidFill>
                  <a:srgbClr val="383030"/>
                </a:solidFill>
                <a:latin typeface="Arimo"/>
                <a:ea typeface="Arimo"/>
                <a:cs typeface="Arimo"/>
                <a:sym typeface="Arimo"/>
              </a:rPr>
              <a:t>Data, Methods and Model Architecture.</a:t>
            </a:r>
          </a:p>
          <a:p>
            <a:pPr algn="ctr">
              <a:lnSpc>
                <a:spcPts val="4415"/>
              </a:lnSpc>
            </a:pPr>
            <a:endParaRPr lang="en-US" sz="3199">
              <a:solidFill>
                <a:srgbClr val="383030"/>
              </a:solidFill>
              <a:latin typeface="Arimo"/>
              <a:ea typeface="Arimo"/>
              <a:cs typeface="Arimo"/>
              <a:sym typeface="Arimo"/>
            </a:endParaRPr>
          </a:p>
        </p:txBody>
      </p:sp>
      <p:sp>
        <p:nvSpPr>
          <p:cNvPr id="7" name="TextBox 7"/>
          <p:cNvSpPr txBox="1"/>
          <p:nvPr/>
        </p:nvSpPr>
        <p:spPr>
          <a:xfrm>
            <a:off x="12510826" y="6436806"/>
            <a:ext cx="4428150" cy="1117473"/>
          </a:xfrm>
          <a:prstGeom prst="rect">
            <a:avLst/>
          </a:prstGeom>
        </p:spPr>
        <p:txBody>
          <a:bodyPr lIns="0" tIns="0" rIns="0" bIns="0" rtlCol="0" anchor="t">
            <a:spAutoFit/>
          </a:bodyPr>
          <a:lstStyle/>
          <a:p>
            <a:pPr algn="ctr">
              <a:lnSpc>
                <a:spcPts val="4415"/>
              </a:lnSpc>
            </a:pPr>
            <a:r>
              <a:rPr lang="en-US" sz="3199">
                <a:solidFill>
                  <a:srgbClr val="383030"/>
                </a:solidFill>
                <a:latin typeface="Arimo"/>
                <a:ea typeface="Arimo"/>
                <a:cs typeface="Arimo"/>
                <a:sym typeface="Arimo"/>
              </a:rPr>
              <a:t>Results, Limitations and Future Work</a:t>
            </a:r>
          </a:p>
        </p:txBody>
      </p:sp>
      <p:sp>
        <p:nvSpPr>
          <p:cNvPr id="8" name="TextBox 8"/>
          <p:cNvSpPr txBox="1"/>
          <p:nvPr/>
        </p:nvSpPr>
        <p:spPr>
          <a:xfrm>
            <a:off x="3284528" y="4611010"/>
            <a:ext cx="1286550" cy="1047750"/>
          </a:xfrm>
          <a:prstGeom prst="rect">
            <a:avLst/>
          </a:prstGeom>
        </p:spPr>
        <p:txBody>
          <a:bodyPr lIns="0" tIns="0" rIns="0" bIns="0" rtlCol="0" anchor="t">
            <a:spAutoFit/>
          </a:bodyPr>
          <a:lstStyle/>
          <a:p>
            <a:pPr algn="ctr">
              <a:lnSpc>
                <a:spcPts val="8399"/>
              </a:lnSpc>
            </a:pPr>
            <a:r>
              <a:rPr lang="en-US" sz="6999">
                <a:solidFill>
                  <a:srgbClr val="A1A48F"/>
                </a:solidFill>
                <a:latin typeface="Fredoka"/>
                <a:ea typeface="Fredoka"/>
                <a:cs typeface="Fredoka"/>
                <a:sym typeface="Fredoka"/>
              </a:rPr>
              <a:t>I</a:t>
            </a:r>
          </a:p>
        </p:txBody>
      </p:sp>
      <p:sp>
        <p:nvSpPr>
          <p:cNvPr id="9" name="TextBox 9"/>
          <p:cNvSpPr txBox="1"/>
          <p:nvPr/>
        </p:nvSpPr>
        <p:spPr>
          <a:xfrm>
            <a:off x="8683070" y="4611010"/>
            <a:ext cx="1286550" cy="1047750"/>
          </a:xfrm>
          <a:prstGeom prst="rect">
            <a:avLst/>
          </a:prstGeom>
        </p:spPr>
        <p:txBody>
          <a:bodyPr lIns="0" tIns="0" rIns="0" bIns="0" rtlCol="0" anchor="t">
            <a:spAutoFit/>
          </a:bodyPr>
          <a:lstStyle/>
          <a:p>
            <a:pPr algn="ctr">
              <a:lnSpc>
                <a:spcPts val="8399"/>
              </a:lnSpc>
            </a:pPr>
            <a:r>
              <a:rPr lang="en-US" sz="6999">
                <a:solidFill>
                  <a:srgbClr val="A1A48F"/>
                </a:solidFill>
                <a:latin typeface="Fredoka"/>
                <a:ea typeface="Fredoka"/>
                <a:cs typeface="Fredoka"/>
                <a:sym typeface="Fredoka"/>
              </a:rPr>
              <a:t>II</a:t>
            </a:r>
          </a:p>
        </p:txBody>
      </p:sp>
      <p:sp>
        <p:nvSpPr>
          <p:cNvPr id="10" name="TextBox 10"/>
          <p:cNvSpPr txBox="1"/>
          <p:nvPr/>
        </p:nvSpPr>
        <p:spPr>
          <a:xfrm>
            <a:off x="14081628" y="4611010"/>
            <a:ext cx="1286550" cy="1047750"/>
          </a:xfrm>
          <a:prstGeom prst="rect">
            <a:avLst/>
          </a:prstGeom>
        </p:spPr>
        <p:txBody>
          <a:bodyPr lIns="0" tIns="0" rIns="0" bIns="0" rtlCol="0" anchor="t">
            <a:spAutoFit/>
          </a:bodyPr>
          <a:lstStyle/>
          <a:p>
            <a:pPr algn="ctr">
              <a:lnSpc>
                <a:spcPts val="8399"/>
              </a:lnSpc>
            </a:pPr>
            <a:r>
              <a:rPr lang="en-US" sz="6999">
                <a:solidFill>
                  <a:srgbClr val="A1A48F"/>
                </a:solidFill>
                <a:latin typeface="Fredoka"/>
                <a:ea typeface="Fredoka"/>
                <a:cs typeface="Fredoka"/>
                <a:sym typeface="Fredoka"/>
              </a:rPr>
              <a:t>III</a:t>
            </a:r>
          </a:p>
        </p:txBody>
      </p:sp>
      <p:sp>
        <p:nvSpPr>
          <p:cNvPr id="11" name="TextBox 11"/>
          <p:cNvSpPr txBox="1"/>
          <p:nvPr/>
        </p:nvSpPr>
        <p:spPr>
          <a:xfrm>
            <a:off x="1713728" y="5654919"/>
            <a:ext cx="4428150" cy="838200"/>
          </a:xfrm>
          <a:prstGeom prst="rect">
            <a:avLst/>
          </a:prstGeom>
        </p:spPr>
        <p:txBody>
          <a:bodyPr lIns="0" tIns="0" rIns="0" bIns="0" rtlCol="0" anchor="t">
            <a:spAutoFit/>
          </a:bodyPr>
          <a:lstStyle/>
          <a:p>
            <a:pPr algn="ctr">
              <a:lnSpc>
                <a:spcPts val="6899"/>
              </a:lnSpc>
            </a:pPr>
            <a:r>
              <a:rPr lang="en-US" sz="4999">
                <a:solidFill>
                  <a:srgbClr val="383030"/>
                </a:solidFill>
                <a:latin typeface="Fredoka"/>
                <a:ea typeface="Fredoka"/>
                <a:cs typeface="Fredoka"/>
                <a:sym typeface="Fredoka"/>
              </a:rPr>
              <a:t>Introduction</a:t>
            </a:r>
          </a:p>
        </p:txBody>
      </p:sp>
      <p:sp>
        <p:nvSpPr>
          <p:cNvPr id="12" name="TextBox 12"/>
          <p:cNvSpPr txBox="1"/>
          <p:nvPr/>
        </p:nvSpPr>
        <p:spPr>
          <a:xfrm>
            <a:off x="7112270" y="5654919"/>
            <a:ext cx="4428150" cy="838200"/>
          </a:xfrm>
          <a:prstGeom prst="rect">
            <a:avLst/>
          </a:prstGeom>
        </p:spPr>
        <p:txBody>
          <a:bodyPr lIns="0" tIns="0" rIns="0" bIns="0" rtlCol="0" anchor="t">
            <a:spAutoFit/>
          </a:bodyPr>
          <a:lstStyle/>
          <a:p>
            <a:pPr algn="ctr">
              <a:lnSpc>
                <a:spcPts val="6899"/>
              </a:lnSpc>
            </a:pPr>
            <a:r>
              <a:rPr lang="en-US" sz="4999">
                <a:solidFill>
                  <a:srgbClr val="383030"/>
                </a:solidFill>
                <a:latin typeface="Fredoka"/>
                <a:ea typeface="Fredoka"/>
                <a:cs typeface="Fredoka"/>
                <a:sym typeface="Fredoka"/>
              </a:rPr>
              <a:t>Methodology</a:t>
            </a:r>
          </a:p>
        </p:txBody>
      </p:sp>
      <p:sp>
        <p:nvSpPr>
          <p:cNvPr id="13" name="TextBox 13"/>
          <p:cNvSpPr txBox="1"/>
          <p:nvPr/>
        </p:nvSpPr>
        <p:spPr>
          <a:xfrm>
            <a:off x="12510826" y="5654919"/>
            <a:ext cx="4428150" cy="838200"/>
          </a:xfrm>
          <a:prstGeom prst="rect">
            <a:avLst/>
          </a:prstGeom>
        </p:spPr>
        <p:txBody>
          <a:bodyPr lIns="0" tIns="0" rIns="0" bIns="0" rtlCol="0" anchor="t">
            <a:spAutoFit/>
          </a:bodyPr>
          <a:lstStyle/>
          <a:p>
            <a:pPr algn="ctr">
              <a:lnSpc>
                <a:spcPts val="6899"/>
              </a:lnSpc>
            </a:pPr>
            <a:r>
              <a:rPr lang="en-US" sz="4999">
                <a:solidFill>
                  <a:srgbClr val="383030"/>
                </a:solidFill>
                <a:latin typeface="Fredoka"/>
                <a:ea typeface="Fredoka"/>
                <a:cs typeface="Fredoka"/>
                <a:sym typeface="Fredoka"/>
              </a:rPr>
              <a:t>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13332450" y="-228700"/>
            <a:ext cx="5470594" cy="11162584"/>
          </a:xfrm>
          <a:custGeom>
            <a:avLst/>
            <a:gdLst/>
            <a:ahLst/>
            <a:cxnLst/>
            <a:rect l="l" t="t" r="r" b="b"/>
            <a:pathLst>
              <a:path w="5470594" h="11162584">
                <a:moveTo>
                  <a:pt x="0" y="0"/>
                </a:moveTo>
                <a:lnTo>
                  <a:pt x="5470594" y="0"/>
                </a:lnTo>
                <a:lnTo>
                  <a:pt x="5470594" y="11162584"/>
                </a:lnTo>
                <a:lnTo>
                  <a:pt x="0" y="111625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7978125" y="4668525"/>
            <a:ext cx="8791950" cy="1847850"/>
          </a:xfrm>
          <a:prstGeom prst="rect">
            <a:avLst/>
          </a:prstGeom>
        </p:spPr>
        <p:txBody>
          <a:bodyPr lIns="0" tIns="0" rIns="0" bIns="0" rtlCol="0" anchor="t">
            <a:spAutoFit/>
          </a:bodyPr>
          <a:lstStyle/>
          <a:p>
            <a:pPr algn="l">
              <a:lnSpc>
                <a:spcPts val="14400"/>
              </a:lnSpc>
            </a:pPr>
            <a:r>
              <a:rPr lang="en-US" sz="12000">
                <a:solidFill>
                  <a:srgbClr val="383030"/>
                </a:solidFill>
                <a:latin typeface="Lilita One"/>
                <a:ea typeface="Lilita One"/>
                <a:cs typeface="Lilita One"/>
                <a:sym typeface="Lilita One"/>
              </a:rPr>
              <a:t>Introduction</a:t>
            </a:r>
          </a:p>
        </p:txBody>
      </p:sp>
      <p:sp>
        <p:nvSpPr>
          <p:cNvPr id="4" name="TextBox 4"/>
          <p:cNvSpPr txBox="1"/>
          <p:nvPr/>
        </p:nvSpPr>
        <p:spPr>
          <a:xfrm>
            <a:off x="7978125" y="2937900"/>
            <a:ext cx="2143350" cy="1658475"/>
          </a:xfrm>
          <a:prstGeom prst="rect">
            <a:avLst/>
          </a:prstGeom>
        </p:spPr>
        <p:txBody>
          <a:bodyPr lIns="0" tIns="0" rIns="0" bIns="0" rtlCol="0" anchor="t">
            <a:spAutoFit/>
          </a:bodyPr>
          <a:lstStyle/>
          <a:p>
            <a:pPr algn="ctr">
              <a:lnSpc>
                <a:spcPts val="14400"/>
              </a:lnSpc>
            </a:pPr>
            <a:r>
              <a:rPr lang="en-US" sz="12000">
                <a:solidFill>
                  <a:srgbClr val="A1A48F"/>
                </a:solidFill>
                <a:latin typeface="Questrial"/>
                <a:ea typeface="Questrial"/>
                <a:cs typeface="Questrial"/>
                <a:sym typeface="Questrial"/>
              </a:rPr>
              <a:t>I</a:t>
            </a:r>
          </a:p>
        </p:txBody>
      </p:sp>
      <p:sp>
        <p:nvSpPr>
          <p:cNvPr id="5" name="Freeform 5"/>
          <p:cNvSpPr/>
          <p:nvPr/>
        </p:nvSpPr>
        <p:spPr>
          <a:xfrm>
            <a:off x="950200" y="2762250"/>
            <a:ext cx="4158538" cy="5014294"/>
          </a:xfrm>
          <a:custGeom>
            <a:avLst/>
            <a:gdLst/>
            <a:ahLst/>
            <a:cxnLst/>
            <a:rect l="l" t="t" r="r" b="b"/>
            <a:pathLst>
              <a:path w="4158538" h="5014294">
                <a:moveTo>
                  <a:pt x="0" y="0"/>
                </a:moveTo>
                <a:lnTo>
                  <a:pt x="4158538" y="0"/>
                </a:lnTo>
                <a:lnTo>
                  <a:pt x="4158538" y="5014294"/>
                </a:lnTo>
                <a:lnTo>
                  <a:pt x="0" y="50142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flipH="1">
            <a:off x="4562300" y="5146000"/>
            <a:ext cx="2600500" cy="3240000"/>
          </a:xfrm>
          <a:custGeom>
            <a:avLst/>
            <a:gdLst/>
            <a:ahLst/>
            <a:cxnLst/>
            <a:rect l="l" t="t" r="r" b="b"/>
            <a:pathLst>
              <a:path w="2600500" h="3240000">
                <a:moveTo>
                  <a:pt x="2600500" y="0"/>
                </a:moveTo>
                <a:lnTo>
                  <a:pt x="0" y="0"/>
                </a:lnTo>
                <a:lnTo>
                  <a:pt x="0" y="3240000"/>
                </a:lnTo>
                <a:lnTo>
                  <a:pt x="2600500" y="3240000"/>
                </a:lnTo>
                <a:lnTo>
                  <a:pt x="2600500" y="0"/>
                </a:lnTo>
                <a:close/>
              </a:path>
            </a:pathLst>
          </a:custGeom>
          <a:blipFill>
            <a:blip r:embed="rId7"/>
            <a:stretch>
              <a:fillRect l="-28409" t="-12939" r="-28411" b="-12929"/>
            </a:stretch>
          </a:blipFill>
        </p:spPr>
        <p:txBody>
          <a:bodyPr/>
          <a:lstStyle/>
          <a:p>
            <a:endParaRPr lang="en-US"/>
          </a:p>
        </p:txBody>
      </p:sp>
      <p:grpSp>
        <p:nvGrpSpPr>
          <p:cNvPr id="7" name="Group 7"/>
          <p:cNvGrpSpPr/>
          <p:nvPr/>
        </p:nvGrpSpPr>
        <p:grpSpPr>
          <a:xfrm>
            <a:off x="626350" y="8385990"/>
            <a:ext cx="5408400" cy="822000"/>
            <a:chOff x="0" y="0"/>
            <a:chExt cx="7211200" cy="1096000"/>
          </a:xfrm>
        </p:grpSpPr>
        <p:sp>
          <p:nvSpPr>
            <p:cNvPr id="8" name="Freeform 8"/>
            <p:cNvSpPr/>
            <p:nvPr/>
          </p:nvSpPr>
          <p:spPr>
            <a:xfrm>
              <a:off x="0" y="0"/>
              <a:ext cx="7211187" cy="1096010"/>
            </a:xfrm>
            <a:custGeom>
              <a:avLst/>
              <a:gdLst/>
              <a:ahLst/>
              <a:cxnLst/>
              <a:rect l="l" t="t" r="r" b="b"/>
              <a:pathLst>
                <a:path w="7211187" h="1096010">
                  <a:moveTo>
                    <a:pt x="0" y="548005"/>
                  </a:moveTo>
                  <a:cubicBezTo>
                    <a:pt x="0" y="245364"/>
                    <a:pt x="1614297" y="0"/>
                    <a:pt x="3605657" y="0"/>
                  </a:cubicBezTo>
                  <a:cubicBezTo>
                    <a:pt x="5597017" y="0"/>
                    <a:pt x="7211187" y="245364"/>
                    <a:pt x="7211187" y="548005"/>
                  </a:cubicBezTo>
                  <a:cubicBezTo>
                    <a:pt x="7211187" y="850646"/>
                    <a:pt x="5596890" y="1096010"/>
                    <a:pt x="3605657" y="1096010"/>
                  </a:cubicBezTo>
                  <a:cubicBezTo>
                    <a:pt x="1614424" y="1096010"/>
                    <a:pt x="0" y="850646"/>
                    <a:pt x="0" y="548005"/>
                  </a:cubicBezTo>
                  <a:close/>
                </a:path>
              </a:pathLst>
            </a:custGeom>
            <a:solidFill>
              <a:srgbClr val="383030">
                <a:alpha val="17647"/>
              </a:srgbClr>
            </a:solidFill>
          </p:spPr>
          <p:txBody>
            <a:bodyPr/>
            <a:lstStyle/>
            <a:p>
              <a:endParaRPr lang="en-US"/>
            </a:p>
          </p:txBody>
        </p:sp>
      </p:grpSp>
      <p:sp>
        <p:nvSpPr>
          <p:cNvPr id="9" name="Freeform 9"/>
          <p:cNvSpPr/>
          <p:nvPr/>
        </p:nvSpPr>
        <p:spPr>
          <a:xfrm>
            <a:off x="815950" y="3257400"/>
            <a:ext cx="5029198" cy="5657850"/>
          </a:xfrm>
          <a:custGeom>
            <a:avLst/>
            <a:gdLst/>
            <a:ahLst/>
            <a:cxnLst/>
            <a:rect l="l" t="t" r="r" b="b"/>
            <a:pathLst>
              <a:path w="5029198" h="5657850">
                <a:moveTo>
                  <a:pt x="0" y="0"/>
                </a:moveTo>
                <a:lnTo>
                  <a:pt x="5029198" y="0"/>
                </a:lnTo>
                <a:lnTo>
                  <a:pt x="5029198" y="5657850"/>
                </a:lnTo>
                <a:lnTo>
                  <a:pt x="0" y="5657850"/>
                </a:lnTo>
                <a:lnTo>
                  <a:pt x="0" y="0"/>
                </a:lnTo>
                <a:close/>
              </a:path>
            </a:pathLst>
          </a:custGeom>
          <a:blipFill>
            <a:blip r:embed="rId8"/>
            <a:stretch>
              <a:fillRect l="-24239" t="-14149" r="-24239" b="-17830"/>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882050" y="1043720"/>
            <a:ext cx="6647245" cy="4099780"/>
          </a:xfrm>
          <a:custGeom>
            <a:avLst/>
            <a:gdLst/>
            <a:ahLst/>
            <a:cxnLst/>
            <a:rect l="l" t="t" r="r" b="b"/>
            <a:pathLst>
              <a:path w="6647245" h="4099780">
                <a:moveTo>
                  <a:pt x="0" y="0"/>
                </a:moveTo>
                <a:lnTo>
                  <a:pt x="6647246" y="0"/>
                </a:lnTo>
                <a:lnTo>
                  <a:pt x="6647246" y="4099780"/>
                </a:lnTo>
                <a:lnTo>
                  <a:pt x="0" y="4099780"/>
                </a:lnTo>
                <a:lnTo>
                  <a:pt x="0" y="0"/>
                </a:lnTo>
                <a:close/>
              </a:path>
            </a:pathLst>
          </a:custGeom>
          <a:blipFill>
            <a:blip r:embed="rId3"/>
            <a:stretch>
              <a:fillRect l="-846" r="-846" b="-15185"/>
            </a:stretch>
          </a:blipFill>
        </p:spPr>
        <p:txBody>
          <a:bodyPr/>
          <a:lstStyle/>
          <a:p>
            <a:endParaRPr lang="en-US"/>
          </a:p>
        </p:txBody>
      </p:sp>
      <p:sp>
        <p:nvSpPr>
          <p:cNvPr id="3" name="Freeform 3"/>
          <p:cNvSpPr/>
          <p:nvPr/>
        </p:nvSpPr>
        <p:spPr>
          <a:xfrm>
            <a:off x="624348" y="5837715"/>
            <a:ext cx="6861765" cy="3782765"/>
          </a:xfrm>
          <a:custGeom>
            <a:avLst/>
            <a:gdLst/>
            <a:ahLst/>
            <a:cxnLst/>
            <a:rect l="l" t="t" r="r" b="b"/>
            <a:pathLst>
              <a:path w="6861765" h="3782765">
                <a:moveTo>
                  <a:pt x="0" y="0"/>
                </a:moveTo>
                <a:lnTo>
                  <a:pt x="6861765" y="0"/>
                </a:lnTo>
                <a:lnTo>
                  <a:pt x="6861765" y="3782764"/>
                </a:lnTo>
                <a:lnTo>
                  <a:pt x="0" y="3782764"/>
                </a:lnTo>
                <a:lnTo>
                  <a:pt x="0" y="0"/>
                </a:lnTo>
                <a:close/>
              </a:path>
            </a:pathLst>
          </a:custGeom>
          <a:blipFill>
            <a:blip r:embed="rId4"/>
            <a:stretch>
              <a:fillRect t="-1035" b="-1035"/>
            </a:stretch>
          </a:blipFill>
        </p:spPr>
        <p:txBody>
          <a:bodyPr/>
          <a:lstStyle/>
          <a:p>
            <a:endParaRPr lang="en-US"/>
          </a:p>
        </p:txBody>
      </p:sp>
      <p:sp>
        <p:nvSpPr>
          <p:cNvPr id="4" name="Freeform 4"/>
          <p:cNvSpPr/>
          <p:nvPr/>
        </p:nvSpPr>
        <p:spPr>
          <a:xfrm>
            <a:off x="10965833" y="1489535"/>
            <a:ext cx="5913857" cy="7872705"/>
          </a:xfrm>
          <a:custGeom>
            <a:avLst/>
            <a:gdLst/>
            <a:ahLst/>
            <a:cxnLst/>
            <a:rect l="l" t="t" r="r" b="b"/>
            <a:pathLst>
              <a:path w="5913857" h="7872705">
                <a:moveTo>
                  <a:pt x="0" y="0"/>
                </a:moveTo>
                <a:lnTo>
                  <a:pt x="5913856" y="0"/>
                </a:lnTo>
                <a:lnTo>
                  <a:pt x="5913856" y="7872705"/>
                </a:lnTo>
                <a:lnTo>
                  <a:pt x="0" y="7872705"/>
                </a:lnTo>
                <a:lnTo>
                  <a:pt x="0" y="0"/>
                </a:lnTo>
                <a:close/>
              </a:path>
            </a:pathLst>
          </a:custGeom>
          <a:blipFill>
            <a:blip r:embed="rId5"/>
            <a:stretch>
              <a:fillRect/>
            </a:stretch>
          </a:blipFill>
        </p:spPr>
        <p:txBody>
          <a:bodyPr/>
          <a:lstStyle/>
          <a:p>
            <a:endParaRPr lang="en-US"/>
          </a:p>
        </p:txBody>
      </p:sp>
      <p:grpSp>
        <p:nvGrpSpPr>
          <p:cNvPr id="5" name="Group 5"/>
          <p:cNvGrpSpPr/>
          <p:nvPr/>
        </p:nvGrpSpPr>
        <p:grpSpPr>
          <a:xfrm>
            <a:off x="499799" y="1028700"/>
            <a:ext cx="7411749" cy="4114800"/>
            <a:chOff x="0" y="0"/>
            <a:chExt cx="1952066" cy="1083733"/>
          </a:xfrm>
        </p:grpSpPr>
        <p:sp>
          <p:nvSpPr>
            <p:cNvPr id="6" name="Freeform 6"/>
            <p:cNvSpPr/>
            <p:nvPr/>
          </p:nvSpPr>
          <p:spPr>
            <a:xfrm>
              <a:off x="0" y="0"/>
              <a:ext cx="1952066" cy="1083733"/>
            </a:xfrm>
            <a:custGeom>
              <a:avLst/>
              <a:gdLst/>
              <a:ahLst/>
              <a:cxnLst/>
              <a:rect l="l" t="t" r="r" b="b"/>
              <a:pathLst>
                <a:path w="1952066" h="1083733">
                  <a:moveTo>
                    <a:pt x="53272" y="0"/>
                  </a:moveTo>
                  <a:lnTo>
                    <a:pt x="1898794" y="0"/>
                  </a:lnTo>
                  <a:cubicBezTo>
                    <a:pt x="1928215" y="0"/>
                    <a:pt x="1952066" y="23851"/>
                    <a:pt x="1952066" y="53272"/>
                  </a:cubicBezTo>
                  <a:lnTo>
                    <a:pt x="1952066" y="1030461"/>
                  </a:lnTo>
                  <a:cubicBezTo>
                    <a:pt x="1952066" y="1059883"/>
                    <a:pt x="1928215" y="1083733"/>
                    <a:pt x="1898794" y="1083733"/>
                  </a:cubicBezTo>
                  <a:lnTo>
                    <a:pt x="53272" y="1083733"/>
                  </a:lnTo>
                  <a:cubicBezTo>
                    <a:pt x="23851" y="1083733"/>
                    <a:pt x="0" y="1059883"/>
                    <a:pt x="0" y="1030461"/>
                  </a:cubicBezTo>
                  <a:lnTo>
                    <a:pt x="0" y="53272"/>
                  </a:lnTo>
                  <a:cubicBezTo>
                    <a:pt x="0" y="23851"/>
                    <a:pt x="23851" y="0"/>
                    <a:pt x="53272" y="0"/>
                  </a:cubicBezTo>
                  <a:close/>
                </a:path>
              </a:pathLst>
            </a:custGeom>
            <a:solidFill>
              <a:srgbClr val="000000">
                <a:alpha val="0"/>
              </a:srgbClr>
            </a:solidFill>
            <a:ln w="57150" cap="rnd">
              <a:gradFill>
                <a:gsLst>
                  <a:gs pos="0">
                    <a:srgbClr val="CDFFD8">
                      <a:alpha val="100000"/>
                    </a:srgbClr>
                  </a:gs>
                  <a:gs pos="100000">
                    <a:srgbClr val="94B9FF">
                      <a:alpha val="100000"/>
                    </a:srgbClr>
                  </a:gs>
                </a:gsLst>
                <a:lin ang="0"/>
              </a:gradFill>
              <a:prstDash val="solid"/>
              <a:round/>
            </a:ln>
          </p:spPr>
          <p:txBody>
            <a:bodyPr/>
            <a:lstStyle/>
            <a:p>
              <a:endParaRPr lang="en-US"/>
            </a:p>
          </p:txBody>
        </p:sp>
        <p:sp>
          <p:nvSpPr>
            <p:cNvPr id="7" name="TextBox 7"/>
            <p:cNvSpPr txBox="1"/>
            <p:nvPr/>
          </p:nvSpPr>
          <p:spPr>
            <a:xfrm>
              <a:off x="0" y="-28575"/>
              <a:ext cx="1952066" cy="1112308"/>
            </a:xfrm>
            <a:prstGeom prst="rect">
              <a:avLst/>
            </a:prstGeom>
          </p:spPr>
          <p:txBody>
            <a:bodyPr lIns="50800" tIns="50800" rIns="50800" bIns="50800" rtlCol="0" anchor="ctr"/>
            <a:lstStyle/>
            <a:p>
              <a:pPr algn="ctr">
                <a:lnSpc>
                  <a:spcPts val="2520"/>
                </a:lnSpc>
                <a:spcBef>
                  <a:spcPct val="0"/>
                </a:spcBef>
              </a:pPr>
              <a:endParaRPr/>
            </a:p>
          </p:txBody>
        </p:sp>
      </p:grpSp>
      <p:grpSp>
        <p:nvGrpSpPr>
          <p:cNvPr id="8" name="Group 8"/>
          <p:cNvGrpSpPr/>
          <p:nvPr/>
        </p:nvGrpSpPr>
        <p:grpSpPr>
          <a:xfrm>
            <a:off x="367173" y="5699472"/>
            <a:ext cx="7468899" cy="3995138"/>
            <a:chOff x="0" y="0"/>
            <a:chExt cx="1967117" cy="1052218"/>
          </a:xfrm>
        </p:grpSpPr>
        <p:sp>
          <p:nvSpPr>
            <p:cNvPr id="9" name="Freeform 9"/>
            <p:cNvSpPr/>
            <p:nvPr/>
          </p:nvSpPr>
          <p:spPr>
            <a:xfrm>
              <a:off x="0" y="0"/>
              <a:ext cx="1967118" cy="1052218"/>
            </a:xfrm>
            <a:custGeom>
              <a:avLst/>
              <a:gdLst/>
              <a:ahLst/>
              <a:cxnLst/>
              <a:rect l="l" t="t" r="r" b="b"/>
              <a:pathLst>
                <a:path w="1967118" h="1052218">
                  <a:moveTo>
                    <a:pt x="52864" y="0"/>
                  </a:moveTo>
                  <a:lnTo>
                    <a:pt x="1914253" y="0"/>
                  </a:lnTo>
                  <a:cubicBezTo>
                    <a:pt x="1928274" y="0"/>
                    <a:pt x="1941720" y="5570"/>
                    <a:pt x="1951634" y="15484"/>
                  </a:cubicBezTo>
                  <a:cubicBezTo>
                    <a:pt x="1961548" y="25398"/>
                    <a:pt x="1967118" y="38844"/>
                    <a:pt x="1967118" y="52864"/>
                  </a:cubicBezTo>
                  <a:lnTo>
                    <a:pt x="1967118" y="999353"/>
                  </a:lnTo>
                  <a:cubicBezTo>
                    <a:pt x="1967118" y="1028549"/>
                    <a:pt x="1943449" y="1052218"/>
                    <a:pt x="1914253" y="1052218"/>
                  </a:cubicBezTo>
                  <a:lnTo>
                    <a:pt x="52864" y="1052218"/>
                  </a:lnTo>
                  <a:cubicBezTo>
                    <a:pt x="38844" y="1052218"/>
                    <a:pt x="25398" y="1046648"/>
                    <a:pt x="15484" y="1036734"/>
                  </a:cubicBezTo>
                  <a:cubicBezTo>
                    <a:pt x="5570" y="1026820"/>
                    <a:pt x="0" y="1013374"/>
                    <a:pt x="0" y="999353"/>
                  </a:cubicBezTo>
                  <a:lnTo>
                    <a:pt x="0" y="52864"/>
                  </a:lnTo>
                  <a:cubicBezTo>
                    <a:pt x="0" y="38844"/>
                    <a:pt x="5570" y="25398"/>
                    <a:pt x="15484" y="15484"/>
                  </a:cubicBezTo>
                  <a:cubicBezTo>
                    <a:pt x="25398" y="5570"/>
                    <a:pt x="38844" y="0"/>
                    <a:pt x="52864" y="0"/>
                  </a:cubicBezTo>
                  <a:close/>
                </a:path>
              </a:pathLst>
            </a:custGeom>
            <a:solidFill>
              <a:srgbClr val="000000">
                <a:alpha val="0"/>
              </a:srgbClr>
            </a:solidFill>
            <a:ln w="57150" cap="rnd">
              <a:gradFill>
                <a:gsLst>
                  <a:gs pos="0">
                    <a:srgbClr val="CDFFD8">
                      <a:alpha val="100000"/>
                    </a:srgbClr>
                  </a:gs>
                  <a:gs pos="100000">
                    <a:srgbClr val="94B9FF">
                      <a:alpha val="100000"/>
                    </a:srgbClr>
                  </a:gs>
                </a:gsLst>
                <a:lin ang="0"/>
              </a:gradFill>
              <a:prstDash val="solid"/>
              <a:round/>
            </a:ln>
          </p:spPr>
          <p:txBody>
            <a:bodyPr/>
            <a:lstStyle/>
            <a:p>
              <a:endParaRPr lang="en-US"/>
            </a:p>
          </p:txBody>
        </p:sp>
        <p:sp>
          <p:nvSpPr>
            <p:cNvPr id="10" name="TextBox 10"/>
            <p:cNvSpPr txBox="1"/>
            <p:nvPr/>
          </p:nvSpPr>
          <p:spPr>
            <a:xfrm>
              <a:off x="0" y="-38100"/>
              <a:ext cx="1967117" cy="109031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0621790" y="1272003"/>
            <a:ext cx="6627985" cy="8356459"/>
            <a:chOff x="0" y="0"/>
            <a:chExt cx="1745642" cy="2200878"/>
          </a:xfrm>
        </p:grpSpPr>
        <p:sp>
          <p:nvSpPr>
            <p:cNvPr id="12" name="Freeform 12"/>
            <p:cNvSpPr/>
            <p:nvPr/>
          </p:nvSpPr>
          <p:spPr>
            <a:xfrm>
              <a:off x="0" y="0"/>
              <a:ext cx="1745642" cy="2200878"/>
            </a:xfrm>
            <a:custGeom>
              <a:avLst/>
              <a:gdLst/>
              <a:ahLst/>
              <a:cxnLst/>
              <a:rect l="l" t="t" r="r" b="b"/>
              <a:pathLst>
                <a:path w="1745642" h="2200878">
                  <a:moveTo>
                    <a:pt x="59571" y="0"/>
                  </a:moveTo>
                  <a:lnTo>
                    <a:pt x="1686071" y="0"/>
                  </a:lnTo>
                  <a:cubicBezTo>
                    <a:pt x="1701870" y="0"/>
                    <a:pt x="1717022" y="6276"/>
                    <a:pt x="1728194" y="17448"/>
                  </a:cubicBezTo>
                  <a:cubicBezTo>
                    <a:pt x="1739366" y="28620"/>
                    <a:pt x="1745642" y="43772"/>
                    <a:pt x="1745642" y="59571"/>
                  </a:cubicBezTo>
                  <a:lnTo>
                    <a:pt x="1745642" y="2141307"/>
                  </a:lnTo>
                  <a:cubicBezTo>
                    <a:pt x="1745642" y="2157106"/>
                    <a:pt x="1739366" y="2172258"/>
                    <a:pt x="1728194" y="2183430"/>
                  </a:cubicBezTo>
                  <a:cubicBezTo>
                    <a:pt x="1717022" y="2194602"/>
                    <a:pt x="1701870" y="2200878"/>
                    <a:pt x="1686071" y="2200878"/>
                  </a:cubicBezTo>
                  <a:lnTo>
                    <a:pt x="59571" y="2200878"/>
                  </a:lnTo>
                  <a:cubicBezTo>
                    <a:pt x="43772" y="2200878"/>
                    <a:pt x="28620" y="2194602"/>
                    <a:pt x="17448" y="2183430"/>
                  </a:cubicBezTo>
                  <a:cubicBezTo>
                    <a:pt x="6276" y="2172258"/>
                    <a:pt x="0" y="2157106"/>
                    <a:pt x="0" y="2141307"/>
                  </a:cubicBezTo>
                  <a:lnTo>
                    <a:pt x="0" y="59571"/>
                  </a:lnTo>
                  <a:cubicBezTo>
                    <a:pt x="0" y="43772"/>
                    <a:pt x="6276" y="28620"/>
                    <a:pt x="17448" y="17448"/>
                  </a:cubicBezTo>
                  <a:cubicBezTo>
                    <a:pt x="28620" y="6276"/>
                    <a:pt x="43772" y="0"/>
                    <a:pt x="59571" y="0"/>
                  </a:cubicBezTo>
                  <a:close/>
                </a:path>
              </a:pathLst>
            </a:custGeom>
            <a:solidFill>
              <a:srgbClr val="000000">
                <a:alpha val="0"/>
              </a:srgbClr>
            </a:solidFill>
            <a:ln w="57150" cap="rnd">
              <a:gradFill>
                <a:gsLst>
                  <a:gs pos="0">
                    <a:srgbClr val="CDFFD8">
                      <a:alpha val="100000"/>
                    </a:srgbClr>
                  </a:gs>
                  <a:gs pos="100000">
                    <a:srgbClr val="94B9FF">
                      <a:alpha val="100000"/>
                    </a:srgbClr>
                  </a:gs>
                </a:gsLst>
                <a:lin ang="0"/>
              </a:gradFill>
              <a:prstDash val="solid"/>
              <a:round/>
            </a:ln>
          </p:spPr>
          <p:txBody>
            <a:bodyPr/>
            <a:lstStyle/>
            <a:p>
              <a:endParaRPr lang="en-US"/>
            </a:p>
          </p:txBody>
        </p:sp>
        <p:sp>
          <p:nvSpPr>
            <p:cNvPr id="13" name="TextBox 13"/>
            <p:cNvSpPr txBox="1"/>
            <p:nvPr/>
          </p:nvSpPr>
          <p:spPr>
            <a:xfrm>
              <a:off x="0" y="-38100"/>
              <a:ext cx="1745642" cy="22389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5400000">
            <a:off x="8093851" y="3931382"/>
            <a:ext cx="2673095" cy="3037701"/>
            <a:chOff x="0" y="0"/>
            <a:chExt cx="812800" cy="923665"/>
          </a:xfrm>
        </p:grpSpPr>
        <p:sp>
          <p:nvSpPr>
            <p:cNvPr id="15" name="Freeform 15"/>
            <p:cNvSpPr/>
            <p:nvPr/>
          </p:nvSpPr>
          <p:spPr>
            <a:xfrm>
              <a:off x="47282" y="98274"/>
              <a:ext cx="718237" cy="825391"/>
            </a:xfrm>
            <a:custGeom>
              <a:avLst/>
              <a:gdLst/>
              <a:ahLst/>
              <a:cxnLst/>
              <a:rect l="l" t="t" r="r" b="b"/>
              <a:pathLst>
                <a:path w="718237" h="825391">
                  <a:moveTo>
                    <a:pt x="419771" y="39577"/>
                  </a:moveTo>
                  <a:lnTo>
                    <a:pt x="704865" y="687540"/>
                  </a:lnTo>
                  <a:cubicBezTo>
                    <a:pt x="718236" y="717929"/>
                    <a:pt x="715359" y="753016"/>
                    <a:pt x="697215" y="780821"/>
                  </a:cubicBezTo>
                  <a:cubicBezTo>
                    <a:pt x="679072" y="808626"/>
                    <a:pt x="648115" y="825391"/>
                    <a:pt x="614914" y="825391"/>
                  </a:cubicBezTo>
                  <a:lnTo>
                    <a:pt x="103322" y="825391"/>
                  </a:lnTo>
                  <a:cubicBezTo>
                    <a:pt x="70121" y="825391"/>
                    <a:pt x="39164" y="808626"/>
                    <a:pt x="21021" y="780821"/>
                  </a:cubicBezTo>
                  <a:cubicBezTo>
                    <a:pt x="2877" y="753016"/>
                    <a:pt x="0" y="717929"/>
                    <a:pt x="13371" y="687540"/>
                  </a:cubicBezTo>
                  <a:lnTo>
                    <a:pt x="298465" y="39577"/>
                  </a:lnTo>
                  <a:cubicBezTo>
                    <a:pt x="309048" y="15526"/>
                    <a:pt x="332842" y="0"/>
                    <a:pt x="359118" y="0"/>
                  </a:cubicBezTo>
                  <a:cubicBezTo>
                    <a:pt x="385394" y="0"/>
                    <a:pt x="409188" y="15526"/>
                    <a:pt x="419771" y="39577"/>
                  </a:cubicBezTo>
                  <a:close/>
                </a:path>
              </a:pathLst>
            </a:custGeom>
            <a:solidFill>
              <a:srgbClr val="000000">
                <a:alpha val="0"/>
              </a:srgbClr>
            </a:solidFill>
            <a:ln w="66675" cap="rnd">
              <a:gradFill>
                <a:gsLst>
                  <a:gs pos="0">
                    <a:srgbClr val="CDFFD8">
                      <a:alpha val="100000"/>
                    </a:srgbClr>
                  </a:gs>
                  <a:gs pos="100000">
                    <a:srgbClr val="94B9FF">
                      <a:alpha val="100000"/>
                    </a:srgbClr>
                  </a:gs>
                </a:gsLst>
                <a:lin ang="0"/>
              </a:gradFill>
              <a:prstDash val="solid"/>
              <a:round/>
            </a:ln>
          </p:spPr>
          <p:txBody>
            <a:bodyPr/>
            <a:lstStyle/>
            <a:p>
              <a:endParaRPr lang="en-US"/>
            </a:p>
          </p:txBody>
        </p:sp>
        <p:sp>
          <p:nvSpPr>
            <p:cNvPr id="16" name="TextBox 16"/>
            <p:cNvSpPr txBox="1"/>
            <p:nvPr/>
          </p:nvSpPr>
          <p:spPr>
            <a:xfrm>
              <a:off x="127000" y="390744"/>
              <a:ext cx="558800" cy="466944"/>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8093774" y="228600"/>
            <a:ext cx="5623139" cy="800100"/>
          </a:xfrm>
          <a:prstGeom prst="rect">
            <a:avLst/>
          </a:prstGeom>
        </p:spPr>
        <p:txBody>
          <a:bodyPr lIns="0" tIns="0" rIns="0" bIns="0" rtlCol="0" anchor="t">
            <a:spAutoFit/>
          </a:bodyPr>
          <a:lstStyle/>
          <a:p>
            <a:pPr algn="just">
              <a:lnSpc>
                <a:spcPts val="6000"/>
              </a:lnSpc>
            </a:pPr>
            <a:r>
              <a:rPr lang="en-US" sz="6000">
                <a:solidFill>
                  <a:srgbClr val="6D563C"/>
                </a:solidFill>
                <a:latin typeface="Fredoka"/>
                <a:ea typeface="Fredoka"/>
                <a:cs typeface="Fredoka"/>
                <a:sym typeface="Fredoka"/>
              </a:rPr>
              <a:t>MOTIVATION</a:t>
            </a:r>
          </a:p>
        </p:txBody>
      </p:sp>
      <p:sp>
        <p:nvSpPr>
          <p:cNvPr id="18" name="TextBox 18"/>
          <p:cNvSpPr txBox="1"/>
          <p:nvPr/>
        </p:nvSpPr>
        <p:spPr>
          <a:xfrm>
            <a:off x="12336243" y="9892413"/>
            <a:ext cx="3566896" cy="243656"/>
          </a:xfrm>
          <a:prstGeom prst="rect">
            <a:avLst/>
          </a:prstGeom>
        </p:spPr>
        <p:txBody>
          <a:bodyPr lIns="0" tIns="0" rIns="0" bIns="0" rtlCol="0" anchor="t">
            <a:spAutoFit/>
          </a:bodyPr>
          <a:lstStyle/>
          <a:p>
            <a:pPr algn="ctr">
              <a:lnSpc>
                <a:spcPts val="1899"/>
              </a:lnSpc>
              <a:spcBef>
                <a:spcPct val="0"/>
              </a:spcBef>
            </a:pPr>
            <a:r>
              <a:rPr lang="en-US" sz="1899" dirty="0">
                <a:solidFill>
                  <a:srgbClr val="00B0F0"/>
                </a:solidFill>
                <a:latin typeface="Times New Roman"/>
                <a:ea typeface="Times New Roman"/>
                <a:cs typeface="Times New Roman"/>
                <a:sym typeface="Times New Roman"/>
                <a:hlinkClick r:id="rId6" tooltip="https://ncats.nih.gov/sites/default/files/NCATS_RareDiseasesFactSheet.pdf">
                  <a:extLst>
                    <a:ext uri="{A12FA001-AC4F-418D-AE19-62706E023703}">
                      <ahyp:hlinkClr xmlns:ahyp="http://schemas.microsoft.com/office/drawing/2018/hyperlinkcolor" val="tx"/>
                    </a:ext>
                  </a:extLst>
                </a:hlinkClick>
              </a:rPr>
              <a:t>NIH - REPORT JANUARY 2023</a:t>
            </a:r>
          </a:p>
        </p:txBody>
      </p:sp>
      <p:sp>
        <p:nvSpPr>
          <p:cNvPr id="19" name="TextBox 19"/>
          <p:cNvSpPr txBox="1"/>
          <p:nvPr/>
        </p:nvSpPr>
        <p:spPr>
          <a:xfrm>
            <a:off x="2518045" y="5257510"/>
            <a:ext cx="2730428" cy="281872"/>
          </a:xfrm>
          <a:prstGeom prst="rect">
            <a:avLst/>
          </a:prstGeom>
        </p:spPr>
        <p:txBody>
          <a:bodyPr lIns="0" tIns="0" rIns="0" bIns="0" rtlCol="0" anchor="t">
            <a:spAutoFit/>
          </a:bodyPr>
          <a:lstStyle/>
          <a:p>
            <a:pPr algn="ctr">
              <a:lnSpc>
                <a:spcPts val="2380"/>
              </a:lnSpc>
              <a:spcBef>
                <a:spcPct val="0"/>
              </a:spcBef>
            </a:pPr>
            <a:r>
              <a:rPr lang="en-US" sz="1700" b="1" dirty="0">
                <a:solidFill>
                  <a:srgbClr val="00B0F0"/>
                </a:solidFill>
                <a:latin typeface="Times New Roman Bold"/>
                <a:ea typeface="Times New Roman Bold"/>
                <a:cs typeface="Times New Roman Bold"/>
                <a:sym typeface="Times New Roman Bold"/>
                <a:hlinkClick r:id="rId7" tooltip="https://www.grandviewresearch.com/industry-analysis/artificial-intelligence-drug-discovery-market">
                  <a:extLst>
                    <a:ext uri="{A12FA001-AC4F-418D-AE19-62706E023703}">
                      <ahyp:hlinkClr xmlns:ahyp="http://schemas.microsoft.com/office/drawing/2018/hyperlinkcolor" val="tx"/>
                    </a:ext>
                  </a:extLst>
                </a:hlinkClick>
              </a:rPr>
              <a:t>GRAND VIEW RESEARCH</a:t>
            </a:r>
          </a:p>
        </p:txBody>
      </p:sp>
      <p:sp>
        <p:nvSpPr>
          <p:cNvPr id="20" name="TextBox 20"/>
          <p:cNvSpPr txBox="1"/>
          <p:nvPr/>
        </p:nvSpPr>
        <p:spPr>
          <a:xfrm>
            <a:off x="367173" y="9875586"/>
            <a:ext cx="8266942" cy="230832"/>
          </a:xfrm>
          <a:prstGeom prst="rect">
            <a:avLst/>
          </a:prstGeom>
        </p:spPr>
        <p:txBody>
          <a:bodyPr lIns="0" tIns="0" rIns="0" bIns="0" rtlCol="0" anchor="t">
            <a:spAutoFit/>
          </a:bodyPr>
          <a:lstStyle/>
          <a:p>
            <a:pPr algn="ctr">
              <a:lnSpc>
                <a:spcPts val="1800"/>
              </a:lnSpc>
              <a:spcBef>
                <a:spcPct val="0"/>
              </a:spcBef>
            </a:pPr>
            <a:r>
              <a:rPr lang="en-US" sz="1800" dirty="0">
                <a:solidFill>
                  <a:srgbClr val="00B0F0"/>
                </a:solidFill>
                <a:latin typeface="Times New Roman"/>
                <a:ea typeface="Times New Roman"/>
                <a:cs typeface="Times New Roman"/>
                <a:sym typeface="Times New Roman"/>
                <a:hlinkClick r:id="rId8" tooltip="https://www.google.com/url?sa=i&amp;url=https%3A%2F%2Fmedium.com%2F%40niran_jan%2Fdrug-discovery-what-goes-behind-the-scene-6c0d5c0537a&amp;psig=AOvVaw2SfAMxEqdw1IFEVftPQ9zy&amp;ust=1731752082349000&amp;source=images&amp;cd=vfe&amp;opi=89978449&amp;ved=0CBcQjhxqFwoTCICFpK-N3okDFQAAAAAdAAAAABAQ">
                  <a:extLst>
                    <a:ext uri="{A12FA001-AC4F-418D-AE19-62706E023703}">
                      <ahyp:hlinkClr xmlns:ahyp="http://schemas.microsoft.com/office/drawing/2018/hyperlinkcolor" val="tx"/>
                    </a:ext>
                  </a:extLst>
                </a:hlinkClick>
              </a:rPr>
              <a:t>DRUG DISCOVERY AND DEVELOPMENT TIMELINE - MEDIUM REPORT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694846" y="-437498"/>
            <a:ext cx="19960072" cy="11121146"/>
          </a:xfrm>
          <a:custGeom>
            <a:avLst/>
            <a:gdLst/>
            <a:ahLst/>
            <a:cxnLst/>
            <a:rect l="l" t="t" r="r" b="b"/>
            <a:pathLst>
              <a:path w="19960072" h="11121146">
                <a:moveTo>
                  <a:pt x="0" y="0"/>
                </a:moveTo>
                <a:lnTo>
                  <a:pt x="19960072" y="0"/>
                </a:lnTo>
                <a:lnTo>
                  <a:pt x="19960072" y="11121146"/>
                </a:lnTo>
                <a:lnTo>
                  <a:pt x="0" y="111211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141190" y="2603034"/>
            <a:ext cx="9285190" cy="6655266"/>
          </a:xfrm>
          <a:prstGeom prst="rect">
            <a:avLst/>
          </a:prstGeom>
        </p:spPr>
        <p:txBody>
          <a:bodyPr lIns="0" tIns="0" rIns="0" bIns="0" rtlCol="0" anchor="t">
            <a:spAutoFit/>
          </a:bodyPr>
          <a:lstStyle/>
          <a:p>
            <a:pPr marL="745252" lvl="1" indent="-372626" algn="just">
              <a:lnSpc>
                <a:spcPts val="4763"/>
              </a:lnSpc>
              <a:buFont typeface="Arial"/>
              <a:buChar char="•"/>
            </a:pPr>
            <a:r>
              <a:rPr lang="en-US" sz="3451" b="1">
                <a:solidFill>
                  <a:srgbClr val="383030"/>
                </a:solidFill>
                <a:latin typeface="Times New Roman Bold"/>
                <a:ea typeface="Times New Roman Bold"/>
                <a:cs typeface="Times New Roman Bold"/>
                <a:sym typeface="Times New Roman Bold"/>
              </a:rPr>
              <a:t>Overview of DTI:</a:t>
            </a:r>
            <a:r>
              <a:rPr lang="en-US" sz="3451">
                <a:solidFill>
                  <a:srgbClr val="383030"/>
                </a:solidFill>
                <a:latin typeface="Times New Roman"/>
                <a:ea typeface="Times New Roman"/>
                <a:cs typeface="Times New Roman"/>
                <a:sym typeface="Times New Roman"/>
              </a:rPr>
              <a:t> Drug-Target Interaction (DTI) refers to how drugs interact with specific biological targets, such as proteins or enzymes, essential to understanding drug mechanisms.</a:t>
            </a:r>
          </a:p>
          <a:p>
            <a:pPr algn="just">
              <a:lnSpc>
                <a:spcPts val="4763"/>
              </a:lnSpc>
            </a:pPr>
            <a:endParaRPr lang="en-US" sz="3451">
              <a:solidFill>
                <a:srgbClr val="383030"/>
              </a:solidFill>
              <a:latin typeface="Times New Roman"/>
              <a:ea typeface="Times New Roman"/>
              <a:cs typeface="Times New Roman"/>
              <a:sym typeface="Times New Roman"/>
            </a:endParaRPr>
          </a:p>
          <a:p>
            <a:pPr marL="745252" lvl="1" indent="-372626" algn="just">
              <a:lnSpc>
                <a:spcPts val="4763"/>
              </a:lnSpc>
              <a:buFont typeface="Arial"/>
              <a:buChar char="•"/>
            </a:pPr>
            <a:r>
              <a:rPr lang="en-US" sz="3451" b="1">
                <a:solidFill>
                  <a:srgbClr val="383030"/>
                </a:solidFill>
                <a:latin typeface="Times New Roman Bold"/>
                <a:ea typeface="Times New Roman Bold"/>
                <a:cs typeface="Times New Roman Bold"/>
                <a:sym typeface="Times New Roman Bold"/>
              </a:rPr>
              <a:t>Role in Drug Discovery:</a:t>
            </a:r>
            <a:r>
              <a:rPr lang="en-US" sz="3451">
                <a:solidFill>
                  <a:srgbClr val="383030"/>
                </a:solidFill>
                <a:latin typeface="Times New Roman"/>
                <a:ea typeface="Times New Roman"/>
                <a:cs typeface="Times New Roman"/>
                <a:sym typeface="Times New Roman"/>
              </a:rPr>
              <a:t> DTI analysis enables researchers to identify new drugs that can accurately target disease pathways, paving the way for more effective treatments.</a:t>
            </a:r>
          </a:p>
          <a:p>
            <a:pPr algn="just">
              <a:lnSpc>
                <a:spcPts val="4763"/>
              </a:lnSpc>
            </a:pPr>
            <a:endParaRPr lang="en-US" sz="3451">
              <a:solidFill>
                <a:srgbClr val="383030"/>
              </a:solidFill>
              <a:latin typeface="Times New Roman"/>
              <a:ea typeface="Times New Roman"/>
              <a:cs typeface="Times New Roman"/>
              <a:sym typeface="Times New Roman"/>
            </a:endParaRPr>
          </a:p>
        </p:txBody>
      </p:sp>
      <p:sp>
        <p:nvSpPr>
          <p:cNvPr id="4" name="TextBox 4"/>
          <p:cNvSpPr txBox="1"/>
          <p:nvPr/>
        </p:nvSpPr>
        <p:spPr>
          <a:xfrm>
            <a:off x="6095693" y="171450"/>
            <a:ext cx="6827608"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INTRODUCTION</a:t>
            </a:r>
          </a:p>
        </p:txBody>
      </p:sp>
      <p:sp>
        <p:nvSpPr>
          <p:cNvPr id="5" name="Freeform 5"/>
          <p:cNvSpPr/>
          <p:nvPr/>
        </p:nvSpPr>
        <p:spPr>
          <a:xfrm>
            <a:off x="9509496" y="1267961"/>
            <a:ext cx="8844279" cy="8761622"/>
          </a:xfrm>
          <a:custGeom>
            <a:avLst/>
            <a:gdLst/>
            <a:ahLst/>
            <a:cxnLst/>
            <a:rect l="l" t="t" r="r" b="b"/>
            <a:pathLst>
              <a:path w="8844279" h="8761622">
                <a:moveTo>
                  <a:pt x="0" y="0"/>
                </a:moveTo>
                <a:lnTo>
                  <a:pt x="8844280" y="0"/>
                </a:lnTo>
                <a:lnTo>
                  <a:pt x="8844280" y="8761621"/>
                </a:lnTo>
                <a:lnTo>
                  <a:pt x="0" y="8761621"/>
                </a:lnTo>
                <a:lnTo>
                  <a:pt x="0" y="0"/>
                </a:lnTo>
                <a:close/>
              </a:path>
            </a:pathLst>
          </a:custGeom>
          <a:blipFill>
            <a:blip r:embed="rId5"/>
            <a:stretch>
              <a:fillRect t="-471" b="-471"/>
            </a:stretch>
          </a:blipFill>
          <a:ln cap="sq">
            <a:noFill/>
            <a:prstDash val="solid"/>
            <a:miter/>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694846" y="-437498"/>
            <a:ext cx="19960072" cy="11121146"/>
          </a:xfrm>
          <a:custGeom>
            <a:avLst/>
            <a:gdLst/>
            <a:ahLst/>
            <a:cxnLst/>
            <a:rect l="l" t="t" r="r" b="b"/>
            <a:pathLst>
              <a:path w="19960072" h="11121146">
                <a:moveTo>
                  <a:pt x="0" y="0"/>
                </a:moveTo>
                <a:lnTo>
                  <a:pt x="19960072" y="0"/>
                </a:lnTo>
                <a:lnTo>
                  <a:pt x="19960072" y="11121146"/>
                </a:lnTo>
                <a:lnTo>
                  <a:pt x="0" y="111211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9509496" y="2130885"/>
            <a:ext cx="8318058" cy="7806262"/>
          </a:xfrm>
          <a:custGeom>
            <a:avLst/>
            <a:gdLst/>
            <a:ahLst/>
            <a:cxnLst/>
            <a:rect l="l" t="t" r="r" b="b"/>
            <a:pathLst>
              <a:path w="8318058" h="7806262">
                <a:moveTo>
                  <a:pt x="0" y="0"/>
                </a:moveTo>
                <a:lnTo>
                  <a:pt x="8318059" y="0"/>
                </a:lnTo>
                <a:lnTo>
                  <a:pt x="8318059" y="7806262"/>
                </a:lnTo>
                <a:lnTo>
                  <a:pt x="0" y="7806262"/>
                </a:lnTo>
                <a:lnTo>
                  <a:pt x="0" y="0"/>
                </a:lnTo>
                <a:close/>
              </a:path>
            </a:pathLst>
          </a:custGeom>
          <a:blipFill>
            <a:blip r:embed="rId5"/>
            <a:stretch>
              <a:fillRect l="-4101" b="-10927"/>
            </a:stretch>
          </a:blipFill>
        </p:spPr>
        <p:txBody>
          <a:bodyPr/>
          <a:lstStyle/>
          <a:p>
            <a:endParaRPr lang="en-US"/>
          </a:p>
        </p:txBody>
      </p:sp>
      <p:sp>
        <p:nvSpPr>
          <p:cNvPr id="4" name="TextBox 4"/>
          <p:cNvSpPr txBox="1"/>
          <p:nvPr/>
        </p:nvSpPr>
        <p:spPr>
          <a:xfrm>
            <a:off x="0" y="2174166"/>
            <a:ext cx="9285190" cy="7211534"/>
          </a:xfrm>
          <a:prstGeom prst="rect">
            <a:avLst/>
          </a:prstGeom>
        </p:spPr>
        <p:txBody>
          <a:bodyPr lIns="0" tIns="0" rIns="0" bIns="0" rtlCol="0" anchor="t">
            <a:spAutoFit/>
          </a:bodyPr>
          <a:lstStyle/>
          <a:p>
            <a:pPr marL="740702" lvl="1" indent="-370351" algn="l">
              <a:lnSpc>
                <a:spcPts val="4734"/>
              </a:lnSpc>
              <a:buFont typeface="Arial"/>
              <a:buChar char="•"/>
            </a:pPr>
            <a:r>
              <a:rPr lang="en-US" sz="3430" b="1">
                <a:solidFill>
                  <a:srgbClr val="383030"/>
                </a:solidFill>
                <a:latin typeface="Times New Roman Bold"/>
                <a:ea typeface="Times New Roman Bold"/>
                <a:cs typeface="Times New Roman Bold"/>
                <a:sym typeface="Times New Roman Bold"/>
              </a:rPr>
              <a:t>Binding Affinity:</a:t>
            </a:r>
            <a:r>
              <a:rPr lang="en-US" sz="3430">
                <a:solidFill>
                  <a:srgbClr val="383030"/>
                </a:solidFill>
                <a:latin typeface="Times New Roman"/>
                <a:ea typeface="Times New Roman"/>
                <a:cs typeface="Times New Roman"/>
                <a:sym typeface="Times New Roman"/>
              </a:rPr>
              <a:t> measures the strength of a drug's interaction with its target, typically using the Equilibrium Dissociation Constant (KD). A lower KD value indicates a stronger binding, essential for evaluating therapeutic potential.</a:t>
            </a:r>
          </a:p>
          <a:p>
            <a:pPr algn="l">
              <a:lnSpc>
                <a:spcPts val="4734"/>
              </a:lnSpc>
            </a:pPr>
            <a:endParaRPr lang="en-US" sz="3430">
              <a:solidFill>
                <a:srgbClr val="383030"/>
              </a:solidFill>
              <a:latin typeface="Times New Roman"/>
              <a:ea typeface="Times New Roman"/>
              <a:cs typeface="Times New Roman"/>
              <a:sym typeface="Times New Roman"/>
            </a:endParaRPr>
          </a:p>
          <a:p>
            <a:pPr marL="740702" lvl="1" indent="-370351" algn="l">
              <a:lnSpc>
                <a:spcPts val="4734"/>
              </a:lnSpc>
              <a:buFont typeface="Arial"/>
              <a:buChar char="•"/>
            </a:pPr>
            <a:r>
              <a:rPr lang="en-US" sz="3430" b="1">
                <a:solidFill>
                  <a:srgbClr val="383030"/>
                </a:solidFill>
                <a:latin typeface="Times New Roman Bold"/>
                <a:ea typeface="Times New Roman Bold"/>
                <a:cs typeface="Times New Roman Bold"/>
                <a:sym typeface="Times New Roman Bold"/>
              </a:rPr>
              <a:t>Significance:</a:t>
            </a:r>
            <a:r>
              <a:rPr lang="en-US" sz="3430">
                <a:solidFill>
                  <a:srgbClr val="383030"/>
                </a:solidFill>
                <a:latin typeface="Times New Roman"/>
                <a:ea typeface="Times New Roman"/>
                <a:cs typeface="Times New Roman"/>
                <a:sym typeface="Times New Roman"/>
              </a:rPr>
              <a:t> High Binding Affinity is key for effective, targeted therapies, contributing to fewer side effects and supporting personalized medicine.</a:t>
            </a:r>
          </a:p>
          <a:p>
            <a:pPr algn="l">
              <a:lnSpc>
                <a:spcPts val="4734"/>
              </a:lnSpc>
            </a:pPr>
            <a:endParaRPr lang="en-US" sz="3430">
              <a:solidFill>
                <a:srgbClr val="383030"/>
              </a:solidFill>
              <a:latin typeface="Times New Roman"/>
              <a:ea typeface="Times New Roman"/>
              <a:cs typeface="Times New Roman"/>
              <a:sym typeface="Times New Roman"/>
            </a:endParaRPr>
          </a:p>
        </p:txBody>
      </p:sp>
      <p:sp>
        <p:nvSpPr>
          <p:cNvPr id="5" name="TextBox 5"/>
          <p:cNvSpPr txBox="1"/>
          <p:nvPr/>
        </p:nvSpPr>
        <p:spPr>
          <a:xfrm>
            <a:off x="6095693" y="171450"/>
            <a:ext cx="6827608"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INTRODUCTION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TextBox 2"/>
          <p:cNvSpPr txBox="1"/>
          <p:nvPr/>
        </p:nvSpPr>
        <p:spPr>
          <a:xfrm>
            <a:off x="173173" y="1306693"/>
            <a:ext cx="12725664" cy="8745047"/>
          </a:xfrm>
          <a:prstGeom prst="rect">
            <a:avLst/>
          </a:prstGeom>
        </p:spPr>
        <p:txBody>
          <a:bodyPr lIns="0" tIns="0" rIns="0" bIns="0" rtlCol="0" anchor="t">
            <a:spAutoFit/>
          </a:bodyPr>
          <a:lstStyle/>
          <a:p>
            <a:pPr marL="610150" lvl="1" indent="-305075" algn="l">
              <a:lnSpc>
                <a:spcPts val="3899"/>
              </a:lnSpc>
              <a:buAutoNum type="arabicPeriod"/>
            </a:pPr>
            <a:r>
              <a:rPr lang="en-US" sz="2826" b="1">
                <a:solidFill>
                  <a:srgbClr val="383030"/>
                </a:solidFill>
                <a:latin typeface="Arimo Bold"/>
                <a:ea typeface="Arimo Bold"/>
                <a:cs typeface="Arimo Bold"/>
                <a:sym typeface="Arimo Bold"/>
              </a:rPr>
              <a:t>Traditional DTI Approaches:</a:t>
            </a:r>
          </a:p>
          <a:p>
            <a:pPr marL="610150" lvl="1" indent="-305075" algn="l">
              <a:lnSpc>
                <a:spcPts val="3899"/>
              </a:lnSpc>
              <a:buFont typeface="Arial"/>
              <a:buChar char="•"/>
            </a:pPr>
            <a:r>
              <a:rPr lang="en-US" sz="2826" b="1">
                <a:solidFill>
                  <a:srgbClr val="383030"/>
                </a:solidFill>
                <a:latin typeface="Arimo Bold"/>
                <a:ea typeface="Arimo Bold"/>
                <a:cs typeface="Arimo Bold"/>
                <a:sym typeface="Arimo Bold"/>
              </a:rPr>
              <a:t>High-Cost:</a:t>
            </a:r>
            <a:r>
              <a:rPr lang="en-US" sz="2826">
                <a:solidFill>
                  <a:srgbClr val="383030"/>
                </a:solidFill>
                <a:latin typeface="Arimo"/>
                <a:ea typeface="Arimo"/>
                <a:cs typeface="Arimo"/>
                <a:sym typeface="Arimo"/>
              </a:rPr>
              <a:t> Laboratory experiments for measuring drug-target interactions require significant financial investment.</a:t>
            </a:r>
          </a:p>
          <a:p>
            <a:pPr marL="610150" lvl="1" indent="-305075" algn="l">
              <a:lnSpc>
                <a:spcPts val="3899"/>
              </a:lnSpc>
              <a:buFont typeface="Arial"/>
              <a:buChar char="•"/>
            </a:pPr>
            <a:r>
              <a:rPr lang="en-US" sz="2826" b="1">
                <a:solidFill>
                  <a:srgbClr val="383030"/>
                </a:solidFill>
                <a:latin typeface="Arimo Bold"/>
                <a:ea typeface="Arimo Bold"/>
                <a:cs typeface="Arimo Bold"/>
                <a:sym typeface="Arimo Bold"/>
              </a:rPr>
              <a:t>Time-Intensive:</a:t>
            </a:r>
            <a:r>
              <a:rPr lang="en-US" sz="2826">
                <a:solidFill>
                  <a:srgbClr val="383030"/>
                </a:solidFill>
                <a:latin typeface="Arimo"/>
                <a:ea typeface="Arimo"/>
                <a:cs typeface="Arimo"/>
                <a:sym typeface="Arimo"/>
              </a:rPr>
              <a:t> Lab-based methods are slow, often taking days to weeks for results.</a:t>
            </a:r>
          </a:p>
          <a:p>
            <a:pPr marL="610150" lvl="1" indent="-305075" algn="l">
              <a:lnSpc>
                <a:spcPts val="3899"/>
              </a:lnSpc>
              <a:buFont typeface="Arial"/>
              <a:buChar char="•"/>
            </a:pPr>
            <a:r>
              <a:rPr lang="en-US" sz="2826" b="1">
                <a:solidFill>
                  <a:srgbClr val="383030"/>
                </a:solidFill>
                <a:latin typeface="Arimo Bold"/>
                <a:ea typeface="Arimo Bold"/>
                <a:cs typeface="Arimo Bold"/>
                <a:sym typeface="Arimo Bold"/>
              </a:rPr>
              <a:t>Resource-Intensive:</a:t>
            </a:r>
            <a:r>
              <a:rPr lang="en-US" sz="2826">
                <a:solidFill>
                  <a:srgbClr val="383030"/>
                </a:solidFill>
                <a:latin typeface="Arimo"/>
                <a:ea typeface="Arimo"/>
                <a:cs typeface="Arimo"/>
                <a:sym typeface="Arimo"/>
              </a:rPr>
              <a:t> Dependence on specialized lab equipment makes scaling to large datasets challenging.</a:t>
            </a:r>
          </a:p>
          <a:p>
            <a:pPr algn="l">
              <a:lnSpc>
                <a:spcPts val="3899"/>
              </a:lnSpc>
            </a:pPr>
            <a:endParaRPr lang="en-US" sz="2826">
              <a:solidFill>
                <a:srgbClr val="383030"/>
              </a:solidFill>
              <a:latin typeface="Arimo"/>
              <a:ea typeface="Arimo"/>
              <a:cs typeface="Arimo"/>
              <a:sym typeface="Arimo"/>
            </a:endParaRPr>
          </a:p>
          <a:p>
            <a:pPr algn="l">
              <a:lnSpc>
                <a:spcPts val="3899"/>
              </a:lnSpc>
            </a:pPr>
            <a:endParaRPr lang="en-US" sz="2826">
              <a:solidFill>
                <a:srgbClr val="383030"/>
              </a:solidFill>
              <a:latin typeface="Arimo"/>
              <a:ea typeface="Arimo"/>
              <a:cs typeface="Arimo"/>
              <a:sym typeface="Arimo"/>
            </a:endParaRPr>
          </a:p>
          <a:p>
            <a:pPr algn="l">
              <a:lnSpc>
                <a:spcPts val="3899"/>
              </a:lnSpc>
            </a:pPr>
            <a:endParaRPr lang="en-US" sz="2826">
              <a:solidFill>
                <a:srgbClr val="383030"/>
              </a:solidFill>
              <a:latin typeface="Arimo"/>
              <a:ea typeface="Arimo"/>
              <a:cs typeface="Arimo"/>
              <a:sym typeface="Arimo"/>
            </a:endParaRPr>
          </a:p>
          <a:p>
            <a:pPr algn="l">
              <a:lnSpc>
                <a:spcPts val="3899"/>
              </a:lnSpc>
            </a:pPr>
            <a:r>
              <a:rPr lang="en-US" sz="2826">
                <a:solidFill>
                  <a:srgbClr val="383030"/>
                </a:solidFill>
                <a:latin typeface="Arimo"/>
                <a:ea typeface="Arimo"/>
                <a:cs typeface="Arimo"/>
                <a:sym typeface="Arimo"/>
              </a:rPr>
              <a:t>  </a:t>
            </a:r>
            <a:r>
              <a:rPr lang="en-US" sz="2826" b="1">
                <a:solidFill>
                  <a:srgbClr val="383030"/>
                </a:solidFill>
                <a:latin typeface="Arimo Bold"/>
                <a:ea typeface="Arimo Bold"/>
                <a:cs typeface="Arimo Bold"/>
                <a:sym typeface="Arimo Bold"/>
              </a:rPr>
              <a:t>2. Earlier Machine Learning Approaches:</a:t>
            </a:r>
          </a:p>
          <a:p>
            <a:pPr marL="610150" lvl="1" indent="-305075" algn="l">
              <a:lnSpc>
                <a:spcPts val="3899"/>
              </a:lnSpc>
              <a:buFont typeface="Arial"/>
              <a:buChar char="•"/>
            </a:pPr>
            <a:r>
              <a:rPr lang="en-US" sz="2826" b="1">
                <a:solidFill>
                  <a:srgbClr val="383030"/>
                </a:solidFill>
                <a:latin typeface="Arimo Bold"/>
                <a:ea typeface="Arimo Bold"/>
                <a:cs typeface="Arimo Bold"/>
                <a:sym typeface="Arimo Bold"/>
              </a:rPr>
              <a:t>Sparse Data:</a:t>
            </a:r>
            <a:r>
              <a:rPr lang="en-US" sz="2826">
                <a:solidFill>
                  <a:srgbClr val="383030"/>
                </a:solidFill>
                <a:latin typeface="Arimo"/>
                <a:ea typeface="Arimo"/>
                <a:cs typeface="Arimo"/>
                <a:sym typeface="Arimo"/>
              </a:rPr>
              <a:t> Insufficient or missing data impacts model accuracy and reliability.</a:t>
            </a:r>
          </a:p>
          <a:p>
            <a:pPr marL="610150" lvl="1" indent="-305075" algn="l">
              <a:lnSpc>
                <a:spcPts val="3899"/>
              </a:lnSpc>
              <a:buFont typeface="Arial"/>
              <a:buChar char="•"/>
            </a:pPr>
            <a:r>
              <a:rPr lang="en-US" sz="2826" b="1">
                <a:solidFill>
                  <a:srgbClr val="383030"/>
                </a:solidFill>
                <a:latin typeface="Arimo Bold"/>
                <a:ea typeface="Arimo Bold"/>
                <a:cs typeface="Arimo Bold"/>
                <a:sym typeface="Arimo Bold"/>
              </a:rPr>
              <a:t>Limited Flexibility:</a:t>
            </a:r>
            <a:r>
              <a:rPr lang="en-US" sz="2826">
                <a:solidFill>
                  <a:srgbClr val="383030"/>
                </a:solidFill>
                <a:latin typeface="Arimo"/>
                <a:ea typeface="Arimo"/>
                <a:cs typeface="Arimo"/>
                <a:sym typeface="Arimo"/>
              </a:rPr>
              <a:t> Earlier ML models lack adaptability, making it difficult to generalize across different drug-target pairs or apply to new, unseen data.</a:t>
            </a:r>
          </a:p>
          <a:p>
            <a:pPr marL="610150" lvl="1" indent="-305075" algn="l">
              <a:lnSpc>
                <a:spcPts val="3899"/>
              </a:lnSpc>
              <a:buFont typeface="Arial"/>
              <a:buChar char="•"/>
            </a:pPr>
            <a:r>
              <a:rPr lang="en-US" sz="2826" b="1">
                <a:solidFill>
                  <a:srgbClr val="383030"/>
                </a:solidFill>
                <a:latin typeface="Arimo Bold"/>
                <a:ea typeface="Arimo Bold"/>
                <a:cs typeface="Arimo Bold"/>
                <a:sym typeface="Arimo Bold"/>
              </a:rPr>
              <a:t>Difficulty Capturing Nonlinear Relationships: </a:t>
            </a:r>
            <a:r>
              <a:rPr lang="en-US" sz="2826">
                <a:solidFill>
                  <a:srgbClr val="383030"/>
                </a:solidFill>
                <a:latin typeface="Arimo"/>
                <a:ea typeface="Arimo"/>
                <a:cs typeface="Arimo"/>
                <a:sym typeface="Arimo"/>
              </a:rPr>
              <a:t>Traditional ML models may struggle to capture nonlinear relationships between drug properties and target interactions, limiting their predictive power.</a:t>
            </a:r>
          </a:p>
        </p:txBody>
      </p:sp>
      <p:sp>
        <p:nvSpPr>
          <p:cNvPr id="3" name="TextBox 3"/>
          <p:cNvSpPr txBox="1"/>
          <p:nvPr/>
        </p:nvSpPr>
        <p:spPr>
          <a:xfrm>
            <a:off x="4076865" y="133350"/>
            <a:ext cx="10134269" cy="918237"/>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PROBLEM STATEMENT</a:t>
            </a:r>
          </a:p>
        </p:txBody>
      </p:sp>
      <p:sp>
        <p:nvSpPr>
          <p:cNvPr id="4" name="Freeform 4"/>
          <p:cNvSpPr/>
          <p:nvPr/>
        </p:nvSpPr>
        <p:spPr>
          <a:xfrm>
            <a:off x="13092999" y="1157341"/>
            <a:ext cx="4836055" cy="4902885"/>
          </a:xfrm>
          <a:custGeom>
            <a:avLst/>
            <a:gdLst/>
            <a:ahLst/>
            <a:cxnLst/>
            <a:rect l="l" t="t" r="r" b="b"/>
            <a:pathLst>
              <a:path w="4836055" h="4902885">
                <a:moveTo>
                  <a:pt x="0" y="0"/>
                </a:moveTo>
                <a:lnTo>
                  <a:pt x="4836055" y="0"/>
                </a:lnTo>
                <a:lnTo>
                  <a:pt x="4836055" y="4902884"/>
                </a:lnTo>
                <a:lnTo>
                  <a:pt x="0" y="4902884"/>
                </a:lnTo>
                <a:lnTo>
                  <a:pt x="0" y="0"/>
                </a:lnTo>
                <a:close/>
              </a:path>
            </a:pathLst>
          </a:custGeom>
          <a:blipFill>
            <a:blip r:embed="rId3"/>
            <a:stretch>
              <a:fillRect l="-5066" t="-2726" r="-2303" b="-3180"/>
            </a:stretch>
          </a:blipFill>
          <a:ln w="38100" cap="sq">
            <a:solidFill>
              <a:srgbClr val="FEFEFE"/>
            </a:solidFill>
            <a:prstDash val="sysDot"/>
            <a:miter/>
          </a:ln>
        </p:spPr>
        <p:txBody>
          <a:bodyPr/>
          <a:lstStyle/>
          <a:p>
            <a:endParaRPr lang="en-US"/>
          </a:p>
        </p:txBody>
      </p:sp>
      <p:sp>
        <p:nvSpPr>
          <p:cNvPr id="5" name="AutoShape 5"/>
          <p:cNvSpPr/>
          <p:nvPr/>
        </p:nvSpPr>
        <p:spPr>
          <a:xfrm>
            <a:off x="1133006" y="5472112"/>
            <a:ext cx="10882200" cy="0"/>
          </a:xfrm>
          <a:prstGeom prst="line">
            <a:avLst/>
          </a:prstGeom>
          <a:ln w="104775" cap="flat">
            <a:solidFill>
              <a:srgbClr val="6D563C"/>
            </a:solidFill>
            <a:prstDash val="solid"/>
            <a:headEnd type="none" w="sm" len="sm"/>
            <a:tailEnd type="none" w="sm" len="sm"/>
          </a:ln>
        </p:spPr>
        <p:txBody>
          <a:bodyPr/>
          <a:lstStyle/>
          <a:p>
            <a:endParaRPr lang="en-US"/>
          </a:p>
        </p:txBody>
      </p:sp>
      <p:sp>
        <p:nvSpPr>
          <p:cNvPr id="6" name="Freeform 6"/>
          <p:cNvSpPr/>
          <p:nvPr/>
        </p:nvSpPr>
        <p:spPr>
          <a:xfrm>
            <a:off x="13092999" y="6248894"/>
            <a:ext cx="4762291" cy="4038106"/>
          </a:xfrm>
          <a:custGeom>
            <a:avLst/>
            <a:gdLst/>
            <a:ahLst/>
            <a:cxnLst/>
            <a:rect l="l" t="t" r="r" b="b"/>
            <a:pathLst>
              <a:path w="4762291" h="4038106">
                <a:moveTo>
                  <a:pt x="0" y="0"/>
                </a:moveTo>
                <a:lnTo>
                  <a:pt x="4762291" y="0"/>
                </a:lnTo>
                <a:lnTo>
                  <a:pt x="4762291" y="4038106"/>
                </a:lnTo>
                <a:lnTo>
                  <a:pt x="0" y="4038106"/>
                </a:lnTo>
                <a:lnTo>
                  <a:pt x="0" y="0"/>
                </a:lnTo>
                <a:close/>
              </a:path>
            </a:pathLst>
          </a:custGeom>
          <a:blipFill>
            <a:blip r:embed="rId4"/>
            <a:stretch>
              <a:fillRect l="-13245" t="-27809" r="-5075" b="-11730"/>
            </a:stretch>
          </a:blipFill>
          <a:ln w="38100" cap="sq">
            <a:solidFill>
              <a:srgbClr val="FEFEFE"/>
            </a:solidFill>
            <a:prstDash val="sysDot"/>
            <a:miter/>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675796" y="-437498"/>
            <a:ext cx="19960072" cy="11121146"/>
          </a:xfrm>
          <a:custGeom>
            <a:avLst/>
            <a:gdLst/>
            <a:ahLst/>
            <a:cxnLst/>
            <a:rect l="l" t="t" r="r" b="b"/>
            <a:pathLst>
              <a:path w="19960072" h="11121146">
                <a:moveTo>
                  <a:pt x="0" y="0"/>
                </a:moveTo>
                <a:lnTo>
                  <a:pt x="19960072" y="0"/>
                </a:lnTo>
                <a:lnTo>
                  <a:pt x="19960072" y="11121146"/>
                </a:lnTo>
                <a:lnTo>
                  <a:pt x="0" y="111211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947053" y="1889976"/>
            <a:ext cx="6929526" cy="6929526"/>
          </a:xfrm>
          <a:custGeom>
            <a:avLst/>
            <a:gdLst/>
            <a:ahLst/>
            <a:cxnLst/>
            <a:rect l="l" t="t" r="r" b="b"/>
            <a:pathLst>
              <a:path w="6929526" h="6929526">
                <a:moveTo>
                  <a:pt x="0" y="0"/>
                </a:moveTo>
                <a:lnTo>
                  <a:pt x="6929526" y="0"/>
                </a:lnTo>
                <a:lnTo>
                  <a:pt x="6929526" y="6929526"/>
                </a:lnTo>
                <a:lnTo>
                  <a:pt x="0" y="6929526"/>
                </a:lnTo>
                <a:lnTo>
                  <a:pt x="0" y="0"/>
                </a:lnTo>
                <a:close/>
              </a:path>
            </a:pathLst>
          </a:custGeom>
          <a:blipFill>
            <a:blip r:embed="rId5"/>
            <a:stretch>
              <a:fillRect/>
            </a:stretch>
          </a:blipFill>
          <a:ln w="38100" cap="sq">
            <a:solidFill>
              <a:srgbClr val="FEFEFE"/>
            </a:solidFill>
            <a:prstDash val="sysDot"/>
            <a:miter/>
          </a:ln>
        </p:spPr>
        <p:txBody>
          <a:bodyPr/>
          <a:lstStyle/>
          <a:p>
            <a:endParaRPr lang="en-US"/>
          </a:p>
        </p:txBody>
      </p:sp>
      <p:sp>
        <p:nvSpPr>
          <p:cNvPr id="4" name="TextBox 4"/>
          <p:cNvSpPr txBox="1"/>
          <p:nvPr/>
        </p:nvSpPr>
        <p:spPr>
          <a:xfrm>
            <a:off x="477060" y="1432535"/>
            <a:ext cx="10047132" cy="8139684"/>
          </a:xfrm>
          <a:prstGeom prst="rect">
            <a:avLst/>
          </a:prstGeom>
        </p:spPr>
        <p:txBody>
          <a:bodyPr lIns="0" tIns="0" rIns="0" bIns="0" rtlCol="0" anchor="t">
            <a:spAutoFit/>
          </a:bodyPr>
          <a:lstStyle/>
          <a:p>
            <a:pPr marL="669291" lvl="1" indent="-334646" algn="just">
              <a:lnSpc>
                <a:spcPts val="4278"/>
              </a:lnSpc>
              <a:buFont typeface="Arial"/>
              <a:buChar char="•"/>
            </a:pPr>
            <a:r>
              <a:rPr lang="en-US" sz="3100" b="1" u="sng">
                <a:solidFill>
                  <a:srgbClr val="383030"/>
                </a:solidFill>
                <a:latin typeface="Arimo Bold"/>
                <a:ea typeface="Arimo Bold"/>
                <a:cs typeface="Arimo Bold"/>
                <a:sym typeface="Arimo Bold"/>
              </a:rPr>
              <a:t>Goal:</a:t>
            </a:r>
            <a:r>
              <a:rPr lang="en-US" sz="3100" b="1">
                <a:solidFill>
                  <a:srgbClr val="383030"/>
                </a:solidFill>
                <a:latin typeface="Arimo Bold"/>
                <a:ea typeface="Arimo Bold"/>
                <a:cs typeface="Arimo Bold"/>
                <a:sym typeface="Arimo Bold"/>
              </a:rPr>
              <a:t> </a:t>
            </a:r>
            <a:r>
              <a:rPr lang="en-US" sz="3100">
                <a:solidFill>
                  <a:srgbClr val="383030"/>
                </a:solidFill>
                <a:latin typeface="Arimo"/>
                <a:ea typeface="Arimo"/>
                <a:cs typeface="Arimo"/>
                <a:sym typeface="Arimo"/>
              </a:rPr>
              <a:t>Accurately predict Drug-Target Binding Affinity using computational models to enable faster, efficient drug discovery with a user-friendly interface.</a:t>
            </a:r>
          </a:p>
          <a:p>
            <a:pPr algn="just">
              <a:lnSpc>
                <a:spcPts val="4278"/>
              </a:lnSpc>
            </a:pPr>
            <a:endParaRPr lang="en-US" sz="3100">
              <a:solidFill>
                <a:srgbClr val="383030"/>
              </a:solidFill>
              <a:latin typeface="Arimo"/>
              <a:ea typeface="Arimo"/>
              <a:cs typeface="Arimo"/>
              <a:sym typeface="Arimo"/>
            </a:endParaRPr>
          </a:p>
          <a:p>
            <a:pPr marL="669291" lvl="1" indent="-334646" algn="just">
              <a:lnSpc>
                <a:spcPts val="4278"/>
              </a:lnSpc>
              <a:buFont typeface="Arial"/>
              <a:buChar char="•"/>
            </a:pPr>
            <a:r>
              <a:rPr lang="en-US" sz="3100" b="1" u="sng">
                <a:solidFill>
                  <a:srgbClr val="383030"/>
                </a:solidFill>
                <a:latin typeface="Arimo Bold"/>
                <a:ea typeface="Arimo Bold"/>
                <a:cs typeface="Arimo Bold"/>
                <a:sym typeface="Arimo Bold"/>
              </a:rPr>
              <a:t>Key Innovations:</a:t>
            </a:r>
          </a:p>
          <a:p>
            <a:pPr marL="669291" lvl="1" indent="-334646" algn="just">
              <a:lnSpc>
                <a:spcPts val="4278"/>
              </a:lnSpc>
              <a:buAutoNum type="arabicPeriod"/>
            </a:pPr>
            <a:r>
              <a:rPr lang="en-US" sz="3100" b="1">
                <a:solidFill>
                  <a:srgbClr val="383030"/>
                </a:solidFill>
                <a:latin typeface="Arimo Bold"/>
                <a:ea typeface="Arimo Bold"/>
                <a:cs typeface="Arimo Bold"/>
                <a:sym typeface="Arimo Bold"/>
              </a:rPr>
              <a:t>Minimize Side Effects:</a:t>
            </a:r>
            <a:r>
              <a:rPr lang="en-US" sz="3100">
                <a:solidFill>
                  <a:srgbClr val="383030"/>
                </a:solidFill>
                <a:latin typeface="Arimo"/>
                <a:ea typeface="Arimo"/>
                <a:cs typeface="Arimo"/>
                <a:sym typeface="Arimo"/>
              </a:rPr>
              <a:t> Focus on drugs with high binding affinity to reduce off-target effects.</a:t>
            </a:r>
          </a:p>
          <a:p>
            <a:pPr marL="669291" lvl="1" indent="-334646" algn="just">
              <a:lnSpc>
                <a:spcPts val="4278"/>
              </a:lnSpc>
              <a:buAutoNum type="arabicPeriod"/>
            </a:pPr>
            <a:r>
              <a:rPr lang="en-US" sz="3100" b="1">
                <a:solidFill>
                  <a:srgbClr val="383030"/>
                </a:solidFill>
                <a:latin typeface="Arimo Bold"/>
                <a:ea typeface="Arimo Bold"/>
                <a:cs typeface="Arimo Bold"/>
                <a:sym typeface="Arimo Bold"/>
              </a:rPr>
              <a:t>Accelerate Drug Repurposing</a:t>
            </a:r>
            <a:r>
              <a:rPr lang="en-US" sz="3100">
                <a:solidFill>
                  <a:srgbClr val="383030"/>
                </a:solidFill>
                <a:latin typeface="Arimo"/>
                <a:ea typeface="Arimo"/>
                <a:cs typeface="Arimo"/>
                <a:sym typeface="Arimo"/>
              </a:rPr>
              <a:t>: Identify existing drugs for new diseases by predicting binding affinity with novel targets.</a:t>
            </a:r>
          </a:p>
          <a:p>
            <a:pPr marL="669291" lvl="1" indent="-334646" algn="just">
              <a:lnSpc>
                <a:spcPts val="4278"/>
              </a:lnSpc>
              <a:buAutoNum type="arabicPeriod"/>
            </a:pPr>
            <a:r>
              <a:rPr lang="en-US" sz="3100" b="1">
                <a:solidFill>
                  <a:srgbClr val="383030"/>
                </a:solidFill>
                <a:latin typeface="Arimo Bold"/>
                <a:ea typeface="Arimo Bold"/>
                <a:cs typeface="Arimo Bold"/>
                <a:sym typeface="Arimo Bold"/>
              </a:rPr>
              <a:t>Scalability:</a:t>
            </a:r>
            <a:r>
              <a:rPr lang="en-US" sz="3100">
                <a:solidFill>
                  <a:srgbClr val="383030"/>
                </a:solidFill>
                <a:latin typeface="Arimo"/>
                <a:ea typeface="Arimo"/>
                <a:cs typeface="Arimo"/>
                <a:sym typeface="Arimo"/>
              </a:rPr>
              <a:t> Extract insights from large datasets for accurate, scalable predictions.</a:t>
            </a:r>
          </a:p>
          <a:p>
            <a:pPr marL="669291" lvl="1" indent="-334646" algn="just">
              <a:lnSpc>
                <a:spcPts val="4278"/>
              </a:lnSpc>
              <a:buAutoNum type="arabicPeriod"/>
            </a:pPr>
            <a:r>
              <a:rPr lang="en-US" sz="3100" b="1">
                <a:solidFill>
                  <a:srgbClr val="383030"/>
                </a:solidFill>
                <a:latin typeface="Arimo Bold"/>
                <a:ea typeface="Arimo Bold"/>
                <a:cs typeface="Arimo Bold"/>
                <a:sym typeface="Arimo Bold"/>
              </a:rPr>
              <a:t>API Access:</a:t>
            </a:r>
            <a:r>
              <a:rPr lang="en-US" sz="3100">
                <a:solidFill>
                  <a:srgbClr val="383030"/>
                </a:solidFill>
                <a:latin typeface="Arimo"/>
                <a:ea typeface="Arimo"/>
                <a:cs typeface="Arimo"/>
                <a:sym typeface="Arimo"/>
              </a:rPr>
              <a:t> Provide easy access to predictions for healthcare professionals via a user-friendly API.</a:t>
            </a:r>
          </a:p>
          <a:p>
            <a:pPr algn="just">
              <a:lnSpc>
                <a:spcPts val="4278"/>
              </a:lnSpc>
            </a:pPr>
            <a:endParaRPr lang="en-US" sz="3100">
              <a:solidFill>
                <a:srgbClr val="383030"/>
              </a:solidFill>
              <a:latin typeface="Arimo"/>
              <a:ea typeface="Arimo"/>
              <a:cs typeface="Arimo"/>
              <a:sym typeface="Arimo"/>
            </a:endParaRPr>
          </a:p>
        </p:txBody>
      </p:sp>
      <p:sp>
        <p:nvSpPr>
          <p:cNvPr id="5" name="TextBox 5"/>
          <p:cNvSpPr txBox="1"/>
          <p:nvPr/>
        </p:nvSpPr>
        <p:spPr>
          <a:xfrm>
            <a:off x="6540790" y="238125"/>
            <a:ext cx="5412600"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OBJECTIVE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sp>
        <p:nvSpPr>
          <p:cNvPr id="2" name="Freeform 2"/>
          <p:cNvSpPr/>
          <p:nvPr/>
        </p:nvSpPr>
        <p:spPr>
          <a:xfrm>
            <a:off x="13332450" y="-228700"/>
            <a:ext cx="5470594" cy="11162584"/>
          </a:xfrm>
          <a:custGeom>
            <a:avLst/>
            <a:gdLst/>
            <a:ahLst/>
            <a:cxnLst/>
            <a:rect l="l" t="t" r="r" b="b"/>
            <a:pathLst>
              <a:path w="5470594" h="11162584">
                <a:moveTo>
                  <a:pt x="0" y="0"/>
                </a:moveTo>
                <a:lnTo>
                  <a:pt x="5470594" y="0"/>
                </a:lnTo>
                <a:lnTo>
                  <a:pt x="5470594" y="11162584"/>
                </a:lnTo>
                <a:lnTo>
                  <a:pt x="0" y="111625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337378" y="3541885"/>
            <a:ext cx="5881997" cy="4917804"/>
          </a:xfrm>
          <a:custGeom>
            <a:avLst/>
            <a:gdLst/>
            <a:ahLst/>
            <a:cxnLst/>
            <a:rect l="l" t="t" r="r" b="b"/>
            <a:pathLst>
              <a:path w="5881997" h="4917804">
                <a:moveTo>
                  <a:pt x="0" y="0"/>
                </a:moveTo>
                <a:lnTo>
                  <a:pt x="5881997" y="0"/>
                </a:lnTo>
                <a:lnTo>
                  <a:pt x="5881997" y="4917804"/>
                </a:lnTo>
                <a:lnTo>
                  <a:pt x="0" y="4917804"/>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7222870" y="5606083"/>
            <a:ext cx="9281175" cy="1847850"/>
          </a:xfrm>
          <a:prstGeom prst="rect">
            <a:avLst/>
          </a:prstGeom>
        </p:spPr>
        <p:txBody>
          <a:bodyPr lIns="0" tIns="0" rIns="0" bIns="0" rtlCol="0" anchor="t">
            <a:spAutoFit/>
          </a:bodyPr>
          <a:lstStyle/>
          <a:p>
            <a:pPr marL="0" lvl="0" indent="0" algn="l">
              <a:lnSpc>
                <a:spcPts val="14400"/>
              </a:lnSpc>
              <a:spcBef>
                <a:spcPct val="0"/>
              </a:spcBef>
            </a:pPr>
            <a:r>
              <a:rPr lang="en-US" sz="12000" u="none" strike="noStrike">
                <a:solidFill>
                  <a:srgbClr val="383030"/>
                </a:solidFill>
                <a:latin typeface="Lilita One"/>
                <a:ea typeface="Lilita One"/>
                <a:cs typeface="Lilita One"/>
                <a:sym typeface="Lilita One"/>
              </a:rPr>
              <a:t>Methodology</a:t>
            </a:r>
          </a:p>
        </p:txBody>
      </p:sp>
      <p:sp>
        <p:nvSpPr>
          <p:cNvPr id="5" name="TextBox 5"/>
          <p:cNvSpPr txBox="1"/>
          <p:nvPr/>
        </p:nvSpPr>
        <p:spPr>
          <a:xfrm>
            <a:off x="7613519" y="3037538"/>
            <a:ext cx="1286550" cy="1838325"/>
          </a:xfrm>
          <a:prstGeom prst="rect">
            <a:avLst/>
          </a:prstGeom>
        </p:spPr>
        <p:txBody>
          <a:bodyPr lIns="0" tIns="0" rIns="0" bIns="0" rtlCol="0" anchor="t">
            <a:spAutoFit/>
          </a:bodyPr>
          <a:lstStyle/>
          <a:p>
            <a:pPr algn="ctr">
              <a:lnSpc>
                <a:spcPts val="14400"/>
              </a:lnSpc>
            </a:pPr>
            <a:r>
              <a:rPr lang="en-US" sz="12000">
                <a:solidFill>
                  <a:srgbClr val="A1A48F"/>
                </a:solidFill>
                <a:latin typeface="Questrial"/>
                <a:ea typeface="Questrial"/>
                <a:cs typeface="Questrial"/>
                <a:sym typeface="Questrial"/>
              </a:rPr>
              <a:t>II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sp>
        <p:nvSpPr>
          <p:cNvPr id="2" name="Freeform 2"/>
          <p:cNvSpPr/>
          <p:nvPr/>
        </p:nvSpPr>
        <p:spPr>
          <a:xfrm>
            <a:off x="-1000949" y="0"/>
            <a:ext cx="19679598" cy="10895438"/>
          </a:xfrm>
          <a:custGeom>
            <a:avLst/>
            <a:gdLst/>
            <a:ahLst/>
            <a:cxnLst/>
            <a:rect l="l" t="t" r="r" b="b"/>
            <a:pathLst>
              <a:path w="19679598" h="10895438">
                <a:moveTo>
                  <a:pt x="0" y="0"/>
                </a:moveTo>
                <a:lnTo>
                  <a:pt x="19679598" y="0"/>
                </a:lnTo>
                <a:lnTo>
                  <a:pt x="19679598" y="10895438"/>
                </a:lnTo>
                <a:lnTo>
                  <a:pt x="0" y="108954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1593903">
            <a:off x="988824" y="7271522"/>
            <a:ext cx="2835856" cy="2835856"/>
          </a:xfrm>
          <a:custGeom>
            <a:avLst/>
            <a:gdLst/>
            <a:ahLst/>
            <a:cxnLst/>
            <a:rect l="l" t="t" r="r" b="b"/>
            <a:pathLst>
              <a:path w="2835856" h="2835856">
                <a:moveTo>
                  <a:pt x="0" y="0"/>
                </a:moveTo>
                <a:lnTo>
                  <a:pt x="2835856" y="0"/>
                </a:lnTo>
                <a:lnTo>
                  <a:pt x="2835856" y="2835856"/>
                </a:lnTo>
                <a:lnTo>
                  <a:pt x="0" y="2835856"/>
                </a:lnTo>
                <a:lnTo>
                  <a:pt x="0" y="0"/>
                </a:lnTo>
                <a:close/>
              </a:path>
            </a:pathLst>
          </a:custGeom>
          <a:blipFill>
            <a:blip r:embed="rId5"/>
            <a:stretch>
              <a:fillRect/>
            </a:stretch>
          </a:blipFill>
        </p:spPr>
        <p:txBody>
          <a:bodyPr/>
          <a:lstStyle/>
          <a:p>
            <a:endParaRPr lang="en-US"/>
          </a:p>
        </p:txBody>
      </p:sp>
      <p:sp>
        <p:nvSpPr>
          <p:cNvPr id="4" name="Freeform 4"/>
          <p:cNvSpPr/>
          <p:nvPr/>
        </p:nvSpPr>
        <p:spPr>
          <a:xfrm>
            <a:off x="11717812" y="1668780"/>
            <a:ext cx="5541488" cy="8470080"/>
          </a:xfrm>
          <a:custGeom>
            <a:avLst/>
            <a:gdLst/>
            <a:ahLst/>
            <a:cxnLst/>
            <a:rect l="l" t="t" r="r" b="b"/>
            <a:pathLst>
              <a:path w="5541488" h="8470080">
                <a:moveTo>
                  <a:pt x="0" y="0"/>
                </a:moveTo>
                <a:lnTo>
                  <a:pt x="5541488" y="0"/>
                </a:lnTo>
                <a:lnTo>
                  <a:pt x="5541488" y="8470080"/>
                </a:lnTo>
                <a:lnTo>
                  <a:pt x="0" y="8470080"/>
                </a:lnTo>
                <a:lnTo>
                  <a:pt x="0" y="0"/>
                </a:lnTo>
                <a:close/>
              </a:path>
            </a:pathLst>
          </a:custGeom>
          <a:blipFill>
            <a:blip r:embed="rId6"/>
            <a:stretch>
              <a:fillRect l="-303" r="-3355"/>
            </a:stretch>
          </a:blipFill>
        </p:spPr>
        <p:txBody>
          <a:bodyPr/>
          <a:lstStyle/>
          <a:p>
            <a:endParaRPr lang="en-US"/>
          </a:p>
        </p:txBody>
      </p:sp>
      <p:sp>
        <p:nvSpPr>
          <p:cNvPr id="5" name="TextBox 5"/>
          <p:cNvSpPr txBox="1"/>
          <p:nvPr/>
        </p:nvSpPr>
        <p:spPr>
          <a:xfrm>
            <a:off x="732018" y="2303282"/>
            <a:ext cx="11561522" cy="4959106"/>
          </a:xfrm>
          <a:prstGeom prst="rect">
            <a:avLst/>
          </a:prstGeom>
        </p:spPr>
        <p:txBody>
          <a:bodyPr lIns="0" tIns="0" rIns="0" bIns="0" rtlCol="0" anchor="t">
            <a:spAutoFit/>
          </a:bodyPr>
          <a:lstStyle/>
          <a:p>
            <a:pPr algn="l">
              <a:lnSpc>
                <a:spcPts val="6531"/>
              </a:lnSpc>
              <a:spcBef>
                <a:spcPct val="0"/>
              </a:spcBef>
            </a:pPr>
            <a:r>
              <a:rPr lang="en-US" sz="4732">
                <a:solidFill>
                  <a:srgbClr val="000000"/>
                </a:solidFill>
                <a:latin typeface="Questrial"/>
                <a:ea typeface="Questrial"/>
                <a:cs typeface="Questrial"/>
                <a:sym typeface="Questrial"/>
              </a:rPr>
              <a:t>The primary objective is to predict drug-target binding affinities using deep learning, a crucial step that accelerates the drug discovery process by helping identify potential drug candidates efficiently.</a:t>
            </a:r>
          </a:p>
        </p:txBody>
      </p:sp>
      <p:sp>
        <p:nvSpPr>
          <p:cNvPr id="6" name="TextBox 6"/>
          <p:cNvSpPr txBox="1"/>
          <p:nvPr/>
        </p:nvSpPr>
        <p:spPr>
          <a:xfrm>
            <a:off x="732018" y="636270"/>
            <a:ext cx="15826853"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OVERVIEW OF THE METHODOLOGY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sp>
        <p:nvSpPr>
          <p:cNvPr id="2" name="Freeform 2"/>
          <p:cNvSpPr/>
          <p:nvPr/>
        </p:nvSpPr>
        <p:spPr>
          <a:xfrm>
            <a:off x="2672954" y="990600"/>
            <a:ext cx="12942093" cy="5241220"/>
          </a:xfrm>
          <a:custGeom>
            <a:avLst/>
            <a:gdLst/>
            <a:ahLst/>
            <a:cxnLst/>
            <a:rect l="l" t="t" r="r" b="b"/>
            <a:pathLst>
              <a:path w="12942093" h="5241220">
                <a:moveTo>
                  <a:pt x="0" y="0"/>
                </a:moveTo>
                <a:lnTo>
                  <a:pt x="12942092" y="0"/>
                </a:lnTo>
                <a:lnTo>
                  <a:pt x="12942092" y="5241220"/>
                </a:lnTo>
                <a:lnTo>
                  <a:pt x="0" y="5241220"/>
                </a:lnTo>
                <a:lnTo>
                  <a:pt x="0" y="0"/>
                </a:lnTo>
                <a:close/>
              </a:path>
            </a:pathLst>
          </a:custGeom>
          <a:blipFill>
            <a:blip r:embed="rId3"/>
            <a:stretch>
              <a:fillRect l="-614"/>
            </a:stretch>
          </a:blipFill>
          <a:ln w="47625" cap="sq">
            <a:gradFill>
              <a:gsLst>
                <a:gs pos="0">
                  <a:srgbClr val="000000">
                    <a:alpha val="100000"/>
                  </a:srgbClr>
                </a:gs>
                <a:gs pos="100000">
                  <a:srgbClr val="C89116">
                    <a:alpha val="100000"/>
                  </a:srgbClr>
                </a:gs>
              </a:gsLst>
              <a:lin ang="0"/>
            </a:gradFill>
            <a:prstDash val="solid"/>
            <a:miter/>
          </a:ln>
        </p:spPr>
        <p:txBody>
          <a:bodyPr/>
          <a:lstStyle/>
          <a:p>
            <a:endParaRPr lang="en-US"/>
          </a:p>
        </p:txBody>
      </p:sp>
      <p:sp>
        <p:nvSpPr>
          <p:cNvPr id="3" name="TextBox 3"/>
          <p:cNvSpPr txBox="1"/>
          <p:nvPr/>
        </p:nvSpPr>
        <p:spPr>
          <a:xfrm>
            <a:off x="219075" y="6376502"/>
            <a:ext cx="8326203" cy="3786673"/>
          </a:xfrm>
          <a:prstGeom prst="rect">
            <a:avLst/>
          </a:prstGeom>
        </p:spPr>
        <p:txBody>
          <a:bodyPr lIns="0" tIns="0" rIns="0" bIns="0" rtlCol="0" anchor="t">
            <a:spAutoFit/>
          </a:bodyPr>
          <a:lstStyle/>
          <a:p>
            <a:pPr algn="l">
              <a:lnSpc>
                <a:spcPts val="4283"/>
              </a:lnSpc>
            </a:pPr>
            <a:r>
              <a:rPr lang="en-US" sz="3103" u="sng">
                <a:solidFill>
                  <a:srgbClr val="000000"/>
                </a:solidFill>
                <a:latin typeface="Questrial"/>
                <a:ea typeface="Questrial"/>
                <a:cs typeface="Questrial"/>
                <a:sym typeface="Questrial"/>
              </a:rPr>
              <a:t>Key Points:</a:t>
            </a:r>
          </a:p>
          <a:p>
            <a:pPr marL="670101" lvl="1" indent="-335050" algn="l">
              <a:lnSpc>
                <a:spcPts val="4283"/>
              </a:lnSpc>
              <a:buFont typeface="Arial"/>
              <a:buChar char="•"/>
            </a:pPr>
            <a:r>
              <a:rPr lang="en-US" sz="3103">
                <a:solidFill>
                  <a:srgbClr val="000000"/>
                </a:solidFill>
                <a:latin typeface="Questrial"/>
                <a:ea typeface="Questrial"/>
                <a:cs typeface="Questrial"/>
                <a:sym typeface="Questrial"/>
              </a:rPr>
              <a:t>Total Rows: 42,236 records, focusing on drug-target interactions.</a:t>
            </a:r>
          </a:p>
          <a:p>
            <a:pPr algn="l">
              <a:lnSpc>
                <a:spcPts val="4283"/>
              </a:lnSpc>
            </a:pPr>
            <a:endParaRPr lang="en-US" sz="3103">
              <a:solidFill>
                <a:srgbClr val="000000"/>
              </a:solidFill>
              <a:latin typeface="Questrial"/>
              <a:ea typeface="Questrial"/>
              <a:cs typeface="Questrial"/>
              <a:sym typeface="Questrial"/>
            </a:endParaRPr>
          </a:p>
          <a:p>
            <a:pPr marL="670101" lvl="1" indent="-335050" algn="l">
              <a:lnSpc>
                <a:spcPts val="4283"/>
              </a:lnSpc>
              <a:buFont typeface="Arial"/>
              <a:buChar char="•"/>
            </a:pPr>
            <a:r>
              <a:rPr lang="en-US" sz="3103">
                <a:solidFill>
                  <a:srgbClr val="000000"/>
                </a:solidFill>
                <a:latin typeface="Questrial"/>
                <a:ea typeface="Questrial"/>
                <a:cs typeface="Questrial"/>
                <a:sym typeface="Questrial"/>
              </a:rPr>
              <a:t>Columns: 9 columns, with key data including drug names, target names, and organism types.</a:t>
            </a:r>
          </a:p>
        </p:txBody>
      </p:sp>
      <p:grpSp>
        <p:nvGrpSpPr>
          <p:cNvPr id="4" name="Group 4"/>
          <p:cNvGrpSpPr/>
          <p:nvPr/>
        </p:nvGrpSpPr>
        <p:grpSpPr>
          <a:xfrm>
            <a:off x="0" y="6279445"/>
            <a:ext cx="8335595" cy="3969455"/>
            <a:chOff x="0" y="0"/>
            <a:chExt cx="2195383" cy="1045453"/>
          </a:xfrm>
        </p:grpSpPr>
        <p:sp>
          <p:nvSpPr>
            <p:cNvPr id="5" name="Freeform 5"/>
            <p:cNvSpPr/>
            <p:nvPr/>
          </p:nvSpPr>
          <p:spPr>
            <a:xfrm>
              <a:off x="0" y="0"/>
              <a:ext cx="2195383" cy="1045453"/>
            </a:xfrm>
            <a:custGeom>
              <a:avLst/>
              <a:gdLst/>
              <a:ahLst/>
              <a:cxnLst/>
              <a:rect l="l" t="t" r="r" b="b"/>
              <a:pathLst>
                <a:path w="2195383" h="1045453">
                  <a:moveTo>
                    <a:pt x="47368" y="0"/>
                  </a:moveTo>
                  <a:lnTo>
                    <a:pt x="2148015" y="0"/>
                  </a:lnTo>
                  <a:cubicBezTo>
                    <a:pt x="2160578" y="0"/>
                    <a:pt x="2172626" y="4991"/>
                    <a:pt x="2181509" y="13874"/>
                  </a:cubicBezTo>
                  <a:cubicBezTo>
                    <a:pt x="2190392" y="22757"/>
                    <a:pt x="2195383" y="34805"/>
                    <a:pt x="2195383" y="47368"/>
                  </a:cubicBezTo>
                  <a:lnTo>
                    <a:pt x="2195383" y="998085"/>
                  </a:lnTo>
                  <a:cubicBezTo>
                    <a:pt x="2195383" y="1024246"/>
                    <a:pt x="2174176" y="1045453"/>
                    <a:pt x="2148015" y="1045453"/>
                  </a:cubicBezTo>
                  <a:lnTo>
                    <a:pt x="47368" y="1045453"/>
                  </a:lnTo>
                  <a:cubicBezTo>
                    <a:pt x="34805" y="1045453"/>
                    <a:pt x="22757" y="1040463"/>
                    <a:pt x="13874" y="1031579"/>
                  </a:cubicBezTo>
                  <a:cubicBezTo>
                    <a:pt x="4991" y="1022696"/>
                    <a:pt x="0" y="1010648"/>
                    <a:pt x="0" y="998085"/>
                  </a:cubicBezTo>
                  <a:lnTo>
                    <a:pt x="0" y="47368"/>
                  </a:lnTo>
                  <a:cubicBezTo>
                    <a:pt x="0" y="34805"/>
                    <a:pt x="4991" y="22757"/>
                    <a:pt x="13874" y="13874"/>
                  </a:cubicBezTo>
                  <a:cubicBezTo>
                    <a:pt x="22757" y="4991"/>
                    <a:pt x="34805" y="0"/>
                    <a:pt x="47368" y="0"/>
                  </a:cubicBezTo>
                  <a:close/>
                </a:path>
              </a:pathLst>
            </a:custGeom>
            <a:solidFill>
              <a:srgbClr val="000000">
                <a:alpha val="0"/>
              </a:srgbClr>
            </a:solidFill>
            <a:ln w="57150" cap="rnd">
              <a:gradFill>
                <a:gsLst>
                  <a:gs pos="0">
                    <a:srgbClr val="000000">
                      <a:alpha val="100000"/>
                    </a:srgbClr>
                  </a:gs>
                  <a:gs pos="100000">
                    <a:srgbClr val="C89116">
                      <a:alpha val="100000"/>
                    </a:srgbClr>
                  </a:gs>
                </a:gsLst>
                <a:lin ang="0"/>
              </a:gradFill>
              <a:prstDash val="solid"/>
              <a:round/>
            </a:ln>
          </p:spPr>
          <p:txBody>
            <a:bodyPr/>
            <a:lstStyle/>
            <a:p>
              <a:endParaRPr lang="en-US"/>
            </a:p>
          </p:txBody>
        </p:sp>
        <p:sp>
          <p:nvSpPr>
            <p:cNvPr id="6" name="TextBox 6"/>
            <p:cNvSpPr txBox="1"/>
            <p:nvPr/>
          </p:nvSpPr>
          <p:spPr>
            <a:xfrm>
              <a:off x="0" y="-28575"/>
              <a:ext cx="2195383" cy="1074028"/>
            </a:xfrm>
            <a:prstGeom prst="rect">
              <a:avLst/>
            </a:prstGeom>
          </p:spPr>
          <p:txBody>
            <a:bodyPr lIns="50800" tIns="50800" rIns="50800" bIns="50800" rtlCol="0" anchor="ctr"/>
            <a:lstStyle/>
            <a:p>
              <a:pPr algn="ctr">
                <a:lnSpc>
                  <a:spcPts val="2520"/>
                </a:lnSpc>
              </a:pPr>
              <a:endParaRPr/>
            </a:p>
          </p:txBody>
        </p:sp>
      </p:grpSp>
      <p:sp>
        <p:nvSpPr>
          <p:cNvPr id="7" name="TextBox 7"/>
          <p:cNvSpPr txBox="1"/>
          <p:nvPr/>
        </p:nvSpPr>
        <p:spPr>
          <a:xfrm>
            <a:off x="5397856" y="91413"/>
            <a:ext cx="8727498" cy="800101"/>
          </a:xfrm>
          <a:prstGeom prst="rect">
            <a:avLst/>
          </a:prstGeom>
        </p:spPr>
        <p:txBody>
          <a:bodyPr lIns="0" tIns="0" rIns="0" bIns="0" rtlCol="0" anchor="t">
            <a:spAutoFit/>
          </a:bodyPr>
          <a:lstStyle/>
          <a:p>
            <a:pPr marL="0" lvl="0" indent="0" algn="l">
              <a:lnSpc>
                <a:spcPts val="6000"/>
              </a:lnSpc>
              <a:spcBef>
                <a:spcPct val="0"/>
              </a:spcBef>
            </a:pPr>
            <a:r>
              <a:rPr lang="en-US" sz="6000">
                <a:solidFill>
                  <a:srgbClr val="6D563C"/>
                </a:solidFill>
                <a:latin typeface="Fredoka"/>
                <a:ea typeface="Fredoka"/>
                <a:cs typeface="Fredoka"/>
                <a:sym typeface="Fredoka"/>
              </a:rPr>
              <a:t>DATA DESCRIPTION</a:t>
            </a:r>
          </a:p>
        </p:txBody>
      </p:sp>
      <p:sp>
        <p:nvSpPr>
          <p:cNvPr id="8" name="TextBox 8"/>
          <p:cNvSpPr txBox="1"/>
          <p:nvPr/>
        </p:nvSpPr>
        <p:spPr>
          <a:xfrm>
            <a:off x="8626665" y="6462227"/>
            <a:ext cx="9805537" cy="3786673"/>
          </a:xfrm>
          <a:prstGeom prst="rect">
            <a:avLst/>
          </a:prstGeom>
        </p:spPr>
        <p:txBody>
          <a:bodyPr lIns="0" tIns="0" rIns="0" bIns="0" rtlCol="0" anchor="t">
            <a:spAutoFit/>
          </a:bodyPr>
          <a:lstStyle/>
          <a:p>
            <a:pPr algn="l">
              <a:lnSpc>
                <a:spcPts val="4283"/>
              </a:lnSpc>
            </a:pPr>
            <a:r>
              <a:rPr lang="en-US" sz="3103" u="sng">
                <a:solidFill>
                  <a:srgbClr val="000000"/>
                </a:solidFill>
                <a:latin typeface="Questrial"/>
                <a:ea typeface="Questrial"/>
                <a:cs typeface="Questrial"/>
                <a:sym typeface="Questrial"/>
              </a:rPr>
              <a:t>Distinct Counts and Data Types:</a:t>
            </a:r>
          </a:p>
          <a:p>
            <a:pPr marL="670101" lvl="1" indent="-335050" algn="l">
              <a:lnSpc>
                <a:spcPts val="4283"/>
              </a:lnSpc>
              <a:buFont typeface="Arial"/>
              <a:buChar char="•"/>
            </a:pPr>
            <a:r>
              <a:rPr lang="en-US" sz="3103">
                <a:solidFill>
                  <a:srgbClr val="000000"/>
                </a:solidFill>
                <a:latin typeface="Questrial"/>
                <a:ea typeface="Questrial"/>
                <a:cs typeface="Questrial"/>
                <a:sym typeface="Questrial"/>
              </a:rPr>
              <a:t>Drug: 9,864 distinct drugs (Categorical-Nominal).</a:t>
            </a:r>
          </a:p>
          <a:p>
            <a:pPr marL="670101" lvl="1" indent="-335050" algn="l">
              <a:lnSpc>
                <a:spcPts val="4283"/>
              </a:lnSpc>
              <a:buFont typeface="Arial"/>
              <a:buChar char="•"/>
            </a:pPr>
            <a:r>
              <a:rPr lang="en-US" sz="3103">
                <a:solidFill>
                  <a:srgbClr val="000000"/>
                </a:solidFill>
                <a:latin typeface="Questrial"/>
                <a:ea typeface="Questrial"/>
                <a:cs typeface="Questrial"/>
                <a:sym typeface="Questrial"/>
              </a:rPr>
              <a:t>Target: 1,090 distinct targets (Categorical-Nominal).</a:t>
            </a:r>
          </a:p>
          <a:p>
            <a:pPr marL="670101" lvl="1" indent="-335050" algn="l">
              <a:lnSpc>
                <a:spcPts val="4283"/>
              </a:lnSpc>
              <a:buFont typeface="Arial"/>
              <a:buChar char="•"/>
            </a:pPr>
            <a:r>
              <a:rPr lang="en-US" sz="3103">
                <a:solidFill>
                  <a:srgbClr val="000000"/>
                </a:solidFill>
                <a:latin typeface="Questrial"/>
                <a:ea typeface="Questrial"/>
                <a:cs typeface="Questrial"/>
                <a:sym typeface="Questrial"/>
              </a:rPr>
              <a:t>Organism: 58 distinct organisms (Categorical-Nominal).</a:t>
            </a:r>
          </a:p>
          <a:p>
            <a:pPr marL="670101" lvl="1" indent="-335050" algn="l">
              <a:lnSpc>
                <a:spcPts val="4283"/>
              </a:lnSpc>
              <a:buFont typeface="Arial"/>
              <a:buChar char="•"/>
            </a:pPr>
            <a:r>
              <a:rPr lang="en-US" sz="3103">
                <a:solidFill>
                  <a:srgbClr val="000000"/>
                </a:solidFill>
                <a:latin typeface="Questrial"/>
                <a:ea typeface="Questrial"/>
                <a:cs typeface="Questrial"/>
                <a:sym typeface="Questrial"/>
              </a:rPr>
              <a:t>Y (Binding Affinity Score): 2,749 distinct affinity values (Numerical-Continuous).</a:t>
            </a:r>
          </a:p>
        </p:txBody>
      </p:sp>
      <p:grpSp>
        <p:nvGrpSpPr>
          <p:cNvPr id="9" name="Group 9"/>
          <p:cNvGrpSpPr/>
          <p:nvPr/>
        </p:nvGrpSpPr>
        <p:grpSpPr>
          <a:xfrm>
            <a:off x="8127248" y="6279445"/>
            <a:ext cx="10160752" cy="3969455"/>
            <a:chOff x="0" y="0"/>
            <a:chExt cx="2676083" cy="1045453"/>
          </a:xfrm>
        </p:grpSpPr>
        <p:sp>
          <p:nvSpPr>
            <p:cNvPr id="10" name="Freeform 10"/>
            <p:cNvSpPr/>
            <p:nvPr/>
          </p:nvSpPr>
          <p:spPr>
            <a:xfrm>
              <a:off x="0" y="0"/>
              <a:ext cx="2676083" cy="1045453"/>
            </a:xfrm>
            <a:custGeom>
              <a:avLst/>
              <a:gdLst/>
              <a:ahLst/>
              <a:cxnLst/>
              <a:rect l="l" t="t" r="r" b="b"/>
              <a:pathLst>
                <a:path w="2676083" h="1045453">
                  <a:moveTo>
                    <a:pt x="38859" y="0"/>
                  </a:moveTo>
                  <a:lnTo>
                    <a:pt x="2637224" y="0"/>
                  </a:lnTo>
                  <a:cubicBezTo>
                    <a:pt x="2658685" y="0"/>
                    <a:pt x="2676083" y="17398"/>
                    <a:pt x="2676083" y="38859"/>
                  </a:cubicBezTo>
                  <a:lnTo>
                    <a:pt x="2676083" y="1006594"/>
                  </a:lnTo>
                  <a:cubicBezTo>
                    <a:pt x="2676083" y="1016900"/>
                    <a:pt x="2671989" y="1026784"/>
                    <a:pt x="2664701" y="1034072"/>
                  </a:cubicBezTo>
                  <a:cubicBezTo>
                    <a:pt x="2657414" y="1041359"/>
                    <a:pt x="2647530" y="1045453"/>
                    <a:pt x="2637224" y="1045453"/>
                  </a:cubicBezTo>
                  <a:lnTo>
                    <a:pt x="38859" y="1045453"/>
                  </a:lnTo>
                  <a:cubicBezTo>
                    <a:pt x="28553" y="1045453"/>
                    <a:pt x="18669" y="1041359"/>
                    <a:pt x="11382" y="1034072"/>
                  </a:cubicBezTo>
                  <a:cubicBezTo>
                    <a:pt x="4094" y="1026784"/>
                    <a:pt x="0" y="1016900"/>
                    <a:pt x="0" y="1006594"/>
                  </a:cubicBezTo>
                  <a:lnTo>
                    <a:pt x="0" y="38859"/>
                  </a:lnTo>
                  <a:cubicBezTo>
                    <a:pt x="0" y="28553"/>
                    <a:pt x="4094" y="18669"/>
                    <a:pt x="11382" y="11382"/>
                  </a:cubicBezTo>
                  <a:cubicBezTo>
                    <a:pt x="18669" y="4094"/>
                    <a:pt x="28553" y="0"/>
                    <a:pt x="38859" y="0"/>
                  </a:cubicBezTo>
                  <a:close/>
                </a:path>
              </a:pathLst>
            </a:custGeom>
            <a:solidFill>
              <a:srgbClr val="000000">
                <a:alpha val="0"/>
              </a:srgbClr>
            </a:solidFill>
            <a:ln w="57150" cap="rnd">
              <a:gradFill>
                <a:gsLst>
                  <a:gs pos="0">
                    <a:srgbClr val="000000">
                      <a:alpha val="100000"/>
                    </a:srgbClr>
                  </a:gs>
                  <a:gs pos="100000">
                    <a:srgbClr val="C89116">
                      <a:alpha val="100000"/>
                    </a:srgbClr>
                  </a:gs>
                </a:gsLst>
                <a:lin ang="0"/>
              </a:gradFill>
              <a:prstDash val="solid"/>
              <a:round/>
            </a:ln>
          </p:spPr>
          <p:txBody>
            <a:bodyPr/>
            <a:lstStyle/>
            <a:p>
              <a:endParaRPr lang="en-US"/>
            </a:p>
          </p:txBody>
        </p:sp>
        <p:sp>
          <p:nvSpPr>
            <p:cNvPr id="11" name="TextBox 11"/>
            <p:cNvSpPr txBox="1"/>
            <p:nvPr/>
          </p:nvSpPr>
          <p:spPr>
            <a:xfrm>
              <a:off x="0" y="-28575"/>
              <a:ext cx="2676083" cy="1074028"/>
            </a:xfrm>
            <a:prstGeom prst="rect">
              <a:avLst/>
            </a:prstGeom>
          </p:spPr>
          <p:txBody>
            <a:bodyPr lIns="50800" tIns="50800" rIns="50800" bIns="50800" rtlCol="0" anchor="ctr"/>
            <a:lstStyle/>
            <a:p>
              <a:pPr algn="ctr">
                <a:lnSpc>
                  <a:spcPts val="2520"/>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sp>
        <p:nvSpPr>
          <p:cNvPr id="2" name="Freeform 2"/>
          <p:cNvSpPr/>
          <p:nvPr/>
        </p:nvSpPr>
        <p:spPr>
          <a:xfrm>
            <a:off x="12254245" y="4502481"/>
            <a:ext cx="5963835" cy="5963835"/>
          </a:xfrm>
          <a:custGeom>
            <a:avLst/>
            <a:gdLst/>
            <a:ahLst/>
            <a:cxnLst/>
            <a:rect l="l" t="t" r="r" b="b"/>
            <a:pathLst>
              <a:path w="5963835" h="5963835">
                <a:moveTo>
                  <a:pt x="0" y="0"/>
                </a:moveTo>
                <a:lnTo>
                  <a:pt x="5963836" y="0"/>
                </a:lnTo>
                <a:lnTo>
                  <a:pt x="5963836" y="5963836"/>
                </a:lnTo>
                <a:lnTo>
                  <a:pt x="0" y="5963836"/>
                </a:lnTo>
                <a:lnTo>
                  <a:pt x="0" y="0"/>
                </a:lnTo>
                <a:close/>
              </a:path>
            </a:pathLst>
          </a:custGeom>
          <a:blipFill>
            <a:blip r:embed="rId3"/>
            <a:stretch>
              <a:fillRect/>
            </a:stretch>
          </a:blipFill>
        </p:spPr>
        <p:txBody>
          <a:bodyPr/>
          <a:lstStyle/>
          <a:p>
            <a:endParaRPr lang="en-US"/>
          </a:p>
        </p:txBody>
      </p:sp>
      <p:sp>
        <p:nvSpPr>
          <p:cNvPr id="3" name="Freeform 3"/>
          <p:cNvSpPr/>
          <p:nvPr/>
        </p:nvSpPr>
        <p:spPr>
          <a:xfrm>
            <a:off x="0" y="0"/>
            <a:ext cx="5896497" cy="5896497"/>
          </a:xfrm>
          <a:custGeom>
            <a:avLst/>
            <a:gdLst/>
            <a:ahLst/>
            <a:cxnLst/>
            <a:rect l="l" t="t" r="r" b="b"/>
            <a:pathLst>
              <a:path w="5896497" h="5896497">
                <a:moveTo>
                  <a:pt x="0" y="0"/>
                </a:moveTo>
                <a:lnTo>
                  <a:pt x="5896497" y="0"/>
                </a:lnTo>
                <a:lnTo>
                  <a:pt x="5896497" y="5896497"/>
                </a:lnTo>
                <a:lnTo>
                  <a:pt x="0" y="5896497"/>
                </a:lnTo>
                <a:lnTo>
                  <a:pt x="0" y="0"/>
                </a:lnTo>
                <a:close/>
              </a:path>
            </a:pathLst>
          </a:custGeom>
          <a:blipFill>
            <a:blip r:embed="rId4"/>
            <a:stretch>
              <a:fillRect/>
            </a:stretch>
          </a:blipFill>
        </p:spPr>
        <p:txBody>
          <a:bodyPr/>
          <a:lstStyle/>
          <a:p>
            <a:endParaRPr lang="en-US"/>
          </a:p>
        </p:txBody>
      </p:sp>
      <p:grpSp>
        <p:nvGrpSpPr>
          <p:cNvPr id="4" name="Group 4"/>
          <p:cNvGrpSpPr/>
          <p:nvPr/>
        </p:nvGrpSpPr>
        <p:grpSpPr>
          <a:xfrm>
            <a:off x="9038622" y="0"/>
            <a:ext cx="6431245" cy="4220505"/>
            <a:chOff x="0" y="0"/>
            <a:chExt cx="812800" cy="533400"/>
          </a:xfrm>
        </p:grpSpPr>
        <p:sp>
          <p:nvSpPr>
            <p:cNvPr id="5" name="Freeform 5"/>
            <p:cNvSpPr/>
            <p:nvPr/>
          </p:nvSpPr>
          <p:spPr>
            <a:xfrm>
              <a:off x="0" y="0"/>
              <a:ext cx="827989" cy="537638"/>
            </a:xfrm>
            <a:custGeom>
              <a:avLst/>
              <a:gdLst/>
              <a:ahLst/>
              <a:cxnLst/>
              <a:rect l="l" t="t" r="r" b="b"/>
              <a:pathLst>
                <a:path w="827989" h="537638">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solidFill>
              <a:srgbClr val="A1A48F"/>
            </a:solidFill>
          </p:spPr>
          <p:txBody>
            <a:bodyPr/>
            <a:lstStyle/>
            <a:p>
              <a:endParaRPr lang="en-US"/>
            </a:p>
          </p:txBody>
        </p:sp>
        <p:sp>
          <p:nvSpPr>
            <p:cNvPr id="6" name="TextBox 6"/>
            <p:cNvSpPr txBox="1"/>
            <p:nvPr/>
          </p:nvSpPr>
          <p:spPr>
            <a:xfrm>
              <a:off x="38100" y="60325"/>
              <a:ext cx="736600" cy="396875"/>
            </a:xfrm>
            <a:prstGeom prst="rect">
              <a:avLst/>
            </a:prstGeom>
          </p:spPr>
          <p:txBody>
            <a:bodyPr lIns="50800" tIns="50800" rIns="50800" bIns="50800" rtlCol="0" anchor="ctr"/>
            <a:lstStyle/>
            <a:p>
              <a:pPr algn="ctr">
                <a:lnSpc>
                  <a:spcPts val="2520"/>
                </a:lnSpc>
              </a:pPr>
              <a:endParaRPr/>
            </a:p>
            <a:p>
              <a:pPr algn="ctr">
                <a:lnSpc>
                  <a:spcPts val="2520"/>
                </a:lnSpc>
              </a:pPr>
              <a:endParaRPr/>
            </a:p>
          </p:txBody>
        </p:sp>
      </p:grpSp>
      <p:grpSp>
        <p:nvGrpSpPr>
          <p:cNvPr id="7" name="Group 7"/>
          <p:cNvGrpSpPr/>
          <p:nvPr/>
        </p:nvGrpSpPr>
        <p:grpSpPr>
          <a:xfrm>
            <a:off x="2210742" y="5896497"/>
            <a:ext cx="6431245" cy="4220505"/>
            <a:chOff x="0" y="0"/>
            <a:chExt cx="812800" cy="533400"/>
          </a:xfrm>
        </p:grpSpPr>
        <p:sp>
          <p:nvSpPr>
            <p:cNvPr id="8" name="Freeform 8"/>
            <p:cNvSpPr/>
            <p:nvPr/>
          </p:nvSpPr>
          <p:spPr>
            <a:xfrm>
              <a:off x="0" y="0"/>
              <a:ext cx="827989" cy="537638"/>
            </a:xfrm>
            <a:custGeom>
              <a:avLst/>
              <a:gdLst/>
              <a:ahLst/>
              <a:cxnLst/>
              <a:rect l="l" t="t" r="r" b="b"/>
              <a:pathLst>
                <a:path w="827989" h="537638">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solidFill>
              <a:srgbClr val="A1A48F"/>
            </a:solidFill>
          </p:spPr>
          <p:txBody>
            <a:bodyPr/>
            <a:lstStyle/>
            <a:p>
              <a:endParaRPr lang="en-US"/>
            </a:p>
          </p:txBody>
        </p:sp>
        <p:sp>
          <p:nvSpPr>
            <p:cNvPr id="9" name="TextBox 9"/>
            <p:cNvSpPr txBox="1"/>
            <p:nvPr/>
          </p:nvSpPr>
          <p:spPr>
            <a:xfrm>
              <a:off x="38100" y="60325"/>
              <a:ext cx="736600" cy="396875"/>
            </a:xfrm>
            <a:prstGeom prst="rect">
              <a:avLst/>
            </a:prstGeom>
          </p:spPr>
          <p:txBody>
            <a:bodyPr lIns="50800" tIns="50800" rIns="50800" bIns="50800" rtlCol="0" anchor="ctr"/>
            <a:lstStyle/>
            <a:p>
              <a:pPr algn="ctr">
                <a:lnSpc>
                  <a:spcPts val="2520"/>
                </a:lnSpc>
              </a:pPr>
              <a:endParaRPr/>
            </a:p>
            <a:p>
              <a:pPr algn="ctr">
                <a:lnSpc>
                  <a:spcPts val="2520"/>
                </a:lnSpc>
              </a:pPr>
              <a:endParaRPr/>
            </a:p>
          </p:txBody>
        </p:sp>
      </p:grpSp>
      <p:sp>
        <p:nvSpPr>
          <p:cNvPr id="10" name="AutoShape 10"/>
          <p:cNvSpPr/>
          <p:nvPr/>
        </p:nvSpPr>
        <p:spPr>
          <a:xfrm>
            <a:off x="5896497" y="2091202"/>
            <a:ext cx="2745491" cy="0"/>
          </a:xfrm>
          <a:prstGeom prst="line">
            <a:avLst/>
          </a:prstGeom>
          <a:ln w="38100" cap="flat">
            <a:solidFill>
              <a:srgbClr val="A1A48F"/>
            </a:solidFill>
            <a:prstDash val="sysDot"/>
            <a:headEnd type="none" w="sm" len="sm"/>
            <a:tailEnd type="arrow" w="med" len="sm"/>
          </a:ln>
        </p:spPr>
        <p:txBody>
          <a:bodyPr/>
          <a:lstStyle/>
          <a:p>
            <a:endParaRPr lang="en-US"/>
          </a:p>
        </p:txBody>
      </p:sp>
      <p:sp>
        <p:nvSpPr>
          <p:cNvPr id="11" name="AutoShape 11"/>
          <p:cNvSpPr/>
          <p:nvPr/>
        </p:nvSpPr>
        <p:spPr>
          <a:xfrm flipH="1">
            <a:off x="9144000" y="8650090"/>
            <a:ext cx="2745491" cy="0"/>
          </a:xfrm>
          <a:prstGeom prst="line">
            <a:avLst/>
          </a:prstGeom>
          <a:ln w="38100" cap="flat">
            <a:solidFill>
              <a:srgbClr val="A1A48F"/>
            </a:solidFill>
            <a:prstDash val="sysDot"/>
            <a:headEnd type="none" w="sm" len="sm"/>
            <a:tailEnd type="arrow" w="med" len="sm"/>
          </a:ln>
        </p:spPr>
        <p:txBody>
          <a:bodyPr/>
          <a:lstStyle/>
          <a:p>
            <a:endParaRPr lang="en-US"/>
          </a:p>
        </p:txBody>
      </p:sp>
      <p:sp>
        <p:nvSpPr>
          <p:cNvPr id="12" name="TextBox 12"/>
          <p:cNvSpPr txBox="1"/>
          <p:nvPr/>
        </p:nvSpPr>
        <p:spPr>
          <a:xfrm>
            <a:off x="9038622" y="1091649"/>
            <a:ext cx="6431245" cy="1961007"/>
          </a:xfrm>
          <a:prstGeom prst="rect">
            <a:avLst/>
          </a:prstGeom>
        </p:spPr>
        <p:txBody>
          <a:bodyPr lIns="0" tIns="0" rIns="0" bIns="0" rtlCol="0" anchor="t">
            <a:spAutoFit/>
          </a:bodyPr>
          <a:lstStyle/>
          <a:p>
            <a:pPr algn="ctr">
              <a:lnSpc>
                <a:spcPts val="5244"/>
              </a:lnSpc>
              <a:spcBef>
                <a:spcPct val="0"/>
              </a:spcBef>
            </a:pPr>
            <a:r>
              <a:rPr lang="en-US" sz="3800">
                <a:solidFill>
                  <a:srgbClr val="FEFEFE"/>
                </a:solidFill>
                <a:latin typeface="Questrial"/>
                <a:ea typeface="Questrial"/>
                <a:cs typeface="Questrial"/>
                <a:sym typeface="Questrial"/>
              </a:rPr>
              <a:t>UniProt, BindingDB,  ChemSpider, PubChem and PDB.</a:t>
            </a:r>
          </a:p>
        </p:txBody>
      </p:sp>
      <p:sp>
        <p:nvSpPr>
          <p:cNvPr id="13" name="TextBox 13"/>
          <p:cNvSpPr txBox="1"/>
          <p:nvPr/>
        </p:nvSpPr>
        <p:spPr>
          <a:xfrm>
            <a:off x="2948248" y="6533635"/>
            <a:ext cx="5200028" cy="3932682"/>
          </a:xfrm>
          <a:prstGeom prst="rect">
            <a:avLst/>
          </a:prstGeom>
        </p:spPr>
        <p:txBody>
          <a:bodyPr lIns="0" tIns="0" rIns="0" bIns="0" rtlCol="0" anchor="t">
            <a:spAutoFit/>
          </a:bodyPr>
          <a:lstStyle/>
          <a:p>
            <a:pPr algn="ctr">
              <a:lnSpc>
                <a:spcPts val="5244"/>
              </a:lnSpc>
              <a:spcBef>
                <a:spcPct val="0"/>
              </a:spcBef>
            </a:pPr>
            <a:r>
              <a:rPr lang="en-US" sz="3800">
                <a:solidFill>
                  <a:srgbClr val="FEFEFE"/>
                </a:solidFill>
                <a:latin typeface="Questrial"/>
                <a:ea typeface="Questrial"/>
                <a:cs typeface="Questrial"/>
                <a:sym typeface="Questrial"/>
              </a:rPr>
              <a:t>Data  Preprocessing </a:t>
            </a:r>
          </a:p>
          <a:p>
            <a:pPr algn="ctr">
              <a:lnSpc>
                <a:spcPts val="5244"/>
              </a:lnSpc>
              <a:spcBef>
                <a:spcPct val="0"/>
              </a:spcBef>
            </a:pPr>
            <a:r>
              <a:rPr lang="en-US" sz="3800">
                <a:solidFill>
                  <a:srgbClr val="FEFEFE"/>
                </a:solidFill>
                <a:latin typeface="Questrial"/>
                <a:ea typeface="Questrial"/>
                <a:cs typeface="Questrial"/>
                <a:sym typeface="Questrial"/>
              </a:rPr>
              <a:t>and</a:t>
            </a:r>
          </a:p>
          <a:p>
            <a:pPr algn="ctr">
              <a:lnSpc>
                <a:spcPts val="5244"/>
              </a:lnSpc>
              <a:spcBef>
                <a:spcPct val="0"/>
              </a:spcBef>
            </a:pPr>
            <a:r>
              <a:rPr lang="en-US" sz="3800">
                <a:solidFill>
                  <a:srgbClr val="FEFEFE"/>
                </a:solidFill>
                <a:latin typeface="Questrial"/>
                <a:ea typeface="Questrial"/>
                <a:cs typeface="Questrial"/>
                <a:sym typeface="Questrial"/>
              </a:rPr>
              <a:t>Exploratory Data Analysis</a:t>
            </a:r>
          </a:p>
          <a:p>
            <a:pPr algn="ctr">
              <a:lnSpc>
                <a:spcPts val="5244"/>
              </a:lnSpc>
              <a:spcBef>
                <a:spcPct val="0"/>
              </a:spcBef>
            </a:pPr>
            <a:endParaRPr lang="en-US" sz="3800">
              <a:solidFill>
                <a:srgbClr val="FEFEFE"/>
              </a:solidFill>
              <a:latin typeface="Questrial"/>
              <a:ea typeface="Questrial"/>
              <a:cs typeface="Questrial"/>
              <a:sym typeface="Questrial"/>
            </a:endParaRPr>
          </a:p>
          <a:p>
            <a:pPr algn="ctr">
              <a:lnSpc>
                <a:spcPts val="5244"/>
              </a:lnSpc>
              <a:spcBef>
                <a:spcPct val="0"/>
              </a:spcBef>
            </a:pPr>
            <a:endParaRPr lang="en-US" sz="3800">
              <a:solidFill>
                <a:srgbClr val="FEFEFE"/>
              </a:solidFill>
              <a:latin typeface="Questrial"/>
              <a:ea typeface="Questrial"/>
              <a:cs typeface="Questrial"/>
              <a:sym typeface="Quest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sp>
        <p:nvSpPr>
          <p:cNvPr id="2" name="Freeform 2"/>
          <p:cNvSpPr/>
          <p:nvPr/>
        </p:nvSpPr>
        <p:spPr>
          <a:xfrm>
            <a:off x="10659644" y="2729865"/>
            <a:ext cx="7628356" cy="7341197"/>
          </a:xfrm>
          <a:custGeom>
            <a:avLst/>
            <a:gdLst/>
            <a:ahLst/>
            <a:cxnLst/>
            <a:rect l="l" t="t" r="r" b="b"/>
            <a:pathLst>
              <a:path w="7628356" h="7341197">
                <a:moveTo>
                  <a:pt x="0" y="0"/>
                </a:moveTo>
                <a:lnTo>
                  <a:pt x="7628356" y="0"/>
                </a:lnTo>
                <a:lnTo>
                  <a:pt x="7628356" y="7341197"/>
                </a:lnTo>
                <a:lnTo>
                  <a:pt x="0" y="7341197"/>
                </a:lnTo>
                <a:lnTo>
                  <a:pt x="0" y="0"/>
                </a:lnTo>
                <a:close/>
              </a:path>
            </a:pathLst>
          </a:custGeom>
          <a:blipFill>
            <a:blip r:embed="rId3"/>
            <a:stretch>
              <a:fillRect t="-1955" b="-1955"/>
            </a:stretch>
          </a:blipFill>
        </p:spPr>
        <p:txBody>
          <a:bodyPr/>
          <a:lstStyle/>
          <a:p>
            <a:endParaRPr lang="en-US"/>
          </a:p>
        </p:txBody>
      </p:sp>
      <p:sp>
        <p:nvSpPr>
          <p:cNvPr id="3" name="TextBox 3"/>
          <p:cNvSpPr txBox="1"/>
          <p:nvPr/>
        </p:nvSpPr>
        <p:spPr>
          <a:xfrm>
            <a:off x="-286476" y="2644140"/>
            <a:ext cx="11308403" cy="7642860"/>
          </a:xfrm>
          <a:prstGeom prst="rect">
            <a:avLst/>
          </a:prstGeom>
        </p:spPr>
        <p:txBody>
          <a:bodyPr lIns="0" tIns="0" rIns="0" bIns="0" rtlCol="0" anchor="t">
            <a:spAutoFit/>
          </a:bodyPr>
          <a:lstStyle/>
          <a:p>
            <a:pPr marL="863599" lvl="1" indent="-431800" algn="l">
              <a:lnSpc>
                <a:spcPts val="5519"/>
              </a:lnSpc>
              <a:buFont typeface="Arial"/>
              <a:buChar char="•"/>
            </a:pPr>
            <a:r>
              <a:rPr lang="en-US" sz="3999">
                <a:solidFill>
                  <a:srgbClr val="000000"/>
                </a:solidFill>
                <a:latin typeface="Questrial"/>
                <a:ea typeface="Questrial"/>
                <a:cs typeface="Questrial"/>
                <a:sym typeface="Questrial"/>
              </a:rPr>
              <a:t>Null values are removed.</a:t>
            </a:r>
          </a:p>
          <a:p>
            <a:pPr algn="l">
              <a:lnSpc>
                <a:spcPts val="5519"/>
              </a:lnSpc>
            </a:pPr>
            <a:endParaRPr lang="en-US" sz="3999">
              <a:solidFill>
                <a:srgbClr val="000000"/>
              </a:solidFill>
              <a:latin typeface="Questrial"/>
              <a:ea typeface="Questrial"/>
              <a:cs typeface="Questrial"/>
              <a:sym typeface="Questrial"/>
            </a:endParaRPr>
          </a:p>
          <a:p>
            <a:pPr marL="863599" lvl="1" indent="-431800" algn="l">
              <a:lnSpc>
                <a:spcPts val="5519"/>
              </a:lnSpc>
              <a:buFont typeface="Arial"/>
              <a:buChar char="•"/>
            </a:pPr>
            <a:r>
              <a:rPr lang="en-US" sz="3999">
                <a:solidFill>
                  <a:srgbClr val="000000"/>
                </a:solidFill>
                <a:latin typeface="Questrial"/>
                <a:ea typeface="Questrial"/>
                <a:cs typeface="Questrial"/>
                <a:sym typeface="Questrial"/>
              </a:rPr>
              <a:t>Outliers are filtered based on affinity values within the range [0.001, 1000000].</a:t>
            </a:r>
          </a:p>
          <a:p>
            <a:pPr algn="l">
              <a:lnSpc>
                <a:spcPts val="5519"/>
              </a:lnSpc>
            </a:pPr>
            <a:endParaRPr lang="en-US" sz="3999">
              <a:solidFill>
                <a:srgbClr val="000000"/>
              </a:solidFill>
              <a:latin typeface="Questrial"/>
              <a:ea typeface="Questrial"/>
              <a:cs typeface="Questrial"/>
              <a:sym typeface="Questrial"/>
            </a:endParaRPr>
          </a:p>
          <a:p>
            <a:pPr marL="863599" lvl="1" indent="-431800" algn="l">
              <a:lnSpc>
                <a:spcPts val="5519"/>
              </a:lnSpc>
              <a:buFont typeface="Arial"/>
              <a:buChar char="•"/>
            </a:pPr>
            <a:r>
              <a:rPr lang="en-US" sz="3999">
                <a:solidFill>
                  <a:srgbClr val="000000"/>
                </a:solidFill>
                <a:latin typeface="Questrial"/>
                <a:ea typeface="Questrial"/>
                <a:cs typeface="Questrial"/>
                <a:sym typeface="Questrial"/>
              </a:rPr>
              <a:t>MinMax scaling is applied to the affinity variable (Y) to normalize values between </a:t>
            </a:r>
          </a:p>
          <a:p>
            <a:pPr algn="l">
              <a:lnSpc>
                <a:spcPts val="5519"/>
              </a:lnSpc>
            </a:pPr>
            <a:r>
              <a:rPr lang="en-US" sz="3999">
                <a:solidFill>
                  <a:srgbClr val="000000"/>
                </a:solidFill>
                <a:latin typeface="Questrial"/>
                <a:ea typeface="Questrial"/>
                <a:cs typeface="Questrial"/>
                <a:sym typeface="Questrial"/>
              </a:rPr>
              <a:t>         0 and 100</a:t>
            </a:r>
          </a:p>
          <a:p>
            <a:pPr algn="l">
              <a:lnSpc>
                <a:spcPts val="5519"/>
              </a:lnSpc>
            </a:pPr>
            <a:endParaRPr lang="en-US" sz="3999">
              <a:solidFill>
                <a:srgbClr val="000000"/>
              </a:solidFill>
              <a:latin typeface="Questrial"/>
              <a:ea typeface="Questrial"/>
              <a:cs typeface="Questrial"/>
              <a:sym typeface="Questrial"/>
            </a:endParaRPr>
          </a:p>
          <a:p>
            <a:pPr marL="863599" lvl="1" indent="-431800" algn="l">
              <a:lnSpc>
                <a:spcPts val="5519"/>
              </a:lnSpc>
              <a:buFont typeface="Arial"/>
              <a:buChar char="•"/>
            </a:pPr>
            <a:r>
              <a:rPr lang="en-US" sz="3999">
                <a:solidFill>
                  <a:srgbClr val="000000"/>
                </a:solidFill>
                <a:latin typeface="Questrial"/>
                <a:ea typeface="Questrial"/>
                <a:cs typeface="Questrial"/>
                <a:sym typeface="Questrial"/>
              </a:rPr>
              <a:t>Data is split into training, validation, and testing sets (%70, %10, %20).</a:t>
            </a:r>
          </a:p>
        </p:txBody>
      </p:sp>
      <p:sp>
        <p:nvSpPr>
          <p:cNvPr id="4" name="TextBox 4"/>
          <p:cNvSpPr txBox="1"/>
          <p:nvPr/>
        </p:nvSpPr>
        <p:spPr>
          <a:xfrm>
            <a:off x="259543" y="406795"/>
            <a:ext cx="15865506"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DATA CLEANING &amp; PREPROCESSING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sp>
        <p:nvSpPr>
          <p:cNvPr id="2" name="Freeform 2"/>
          <p:cNvSpPr/>
          <p:nvPr/>
        </p:nvSpPr>
        <p:spPr>
          <a:xfrm>
            <a:off x="14107006" y="0"/>
            <a:ext cx="5470594" cy="11162584"/>
          </a:xfrm>
          <a:custGeom>
            <a:avLst/>
            <a:gdLst/>
            <a:ahLst/>
            <a:cxnLst/>
            <a:rect l="l" t="t" r="r" b="b"/>
            <a:pathLst>
              <a:path w="5470594" h="11162584">
                <a:moveTo>
                  <a:pt x="0" y="0"/>
                </a:moveTo>
                <a:lnTo>
                  <a:pt x="5470594" y="0"/>
                </a:lnTo>
                <a:lnTo>
                  <a:pt x="5470594" y="11162584"/>
                </a:lnTo>
                <a:lnTo>
                  <a:pt x="0" y="111625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1124002" y="2320924"/>
            <a:ext cx="5966008" cy="7636490"/>
          </a:xfrm>
          <a:custGeom>
            <a:avLst/>
            <a:gdLst/>
            <a:ahLst/>
            <a:cxnLst/>
            <a:rect l="l" t="t" r="r" b="b"/>
            <a:pathLst>
              <a:path w="5966008" h="7636490">
                <a:moveTo>
                  <a:pt x="0" y="0"/>
                </a:moveTo>
                <a:lnTo>
                  <a:pt x="5966008" y="0"/>
                </a:lnTo>
                <a:lnTo>
                  <a:pt x="5966008" y="7636491"/>
                </a:lnTo>
                <a:lnTo>
                  <a:pt x="0" y="7636491"/>
                </a:lnTo>
                <a:lnTo>
                  <a:pt x="0" y="0"/>
                </a:lnTo>
                <a:close/>
              </a:path>
            </a:pathLst>
          </a:custGeom>
          <a:blipFill>
            <a:blip r:embed="rId5"/>
            <a:stretch>
              <a:fillRect/>
            </a:stretch>
          </a:blipFill>
        </p:spPr>
        <p:txBody>
          <a:bodyPr/>
          <a:lstStyle/>
          <a:p>
            <a:endParaRPr lang="en-US"/>
          </a:p>
        </p:txBody>
      </p:sp>
      <p:sp>
        <p:nvSpPr>
          <p:cNvPr id="4" name="Freeform 4"/>
          <p:cNvSpPr/>
          <p:nvPr/>
        </p:nvSpPr>
        <p:spPr>
          <a:xfrm>
            <a:off x="-1253556" y="0"/>
            <a:ext cx="5470594" cy="11162584"/>
          </a:xfrm>
          <a:custGeom>
            <a:avLst/>
            <a:gdLst/>
            <a:ahLst/>
            <a:cxnLst/>
            <a:rect l="l" t="t" r="r" b="b"/>
            <a:pathLst>
              <a:path w="5470594" h="11162584">
                <a:moveTo>
                  <a:pt x="0" y="0"/>
                </a:moveTo>
                <a:lnTo>
                  <a:pt x="5470594" y="0"/>
                </a:lnTo>
                <a:lnTo>
                  <a:pt x="5470594" y="11162584"/>
                </a:lnTo>
                <a:lnTo>
                  <a:pt x="0" y="111625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481741" y="2320924"/>
            <a:ext cx="3808530" cy="7636490"/>
          </a:xfrm>
          <a:custGeom>
            <a:avLst/>
            <a:gdLst/>
            <a:ahLst/>
            <a:cxnLst/>
            <a:rect l="l" t="t" r="r" b="b"/>
            <a:pathLst>
              <a:path w="3808530" h="7636490">
                <a:moveTo>
                  <a:pt x="0" y="0"/>
                </a:moveTo>
                <a:lnTo>
                  <a:pt x="3808530" y="0"/>
                </a:lnTo>
                <a:lnTo>
                  <a:pt x="3808530" y="7636491"/>
                </a:lnTo>
                <a:lnTo>
                  <a:pt x="0" y="7636491"/>
                </a:lnTo>
                <a:lnTo>
                  <a:pt x="0" y="0"/>
                </a:lnTo>
                <a:close/>
              </a:path>
            </a:pathLst>
          </a:custGeom>
          <a:blipFill>
            <a:blip r:embed="rId6"/>
            <a:stretch>
              <a:fillRect/>
            </a:stretch>
          </a:blipFill>
        </p:spPr>
        <p:txBody>
          <a:bodyPr/>
          <a:lstStyle/>
          <a:p>
            <a:endParaRPr lang="en-US"/>
          </a:p>
        </p:txBody>
      </p:sp>
      <p:sp>
        <p:nvSpPr>
          <p:cNvPr id="6" name="AutoShape 6"/>
          <p:cNvSpPr/>
          <p:nvPr/>
        </p:nvSpPr>
        <p:spPr>
          <a:xfrm>
            <a:off x="6225494" y="6369752"/>
            <a:ext cx="4122385" cy="0"/>
          </a:xfrm>
          <a:prstGeom prst="line">
            <a:avLst/>
          </a:prstGeom>
          <a:ln w="123825" cap="rnd">
            <a:solidFill>
              <a:srgbClr val="6D563C"/>
            </a:solidFill>
            <a:prstDash val="solid"/>
            <a:headEnd type="none" w="sm" len="sm"/>
            <a:tailEnd type="arrow" w="med" len="sm"/>
          </a:ln>
        </p:spPr>
        <p:txBody>
          <a:bodyPr/>
          <a:lstStyle/>
          <a:p>
            <a:endParaRPr lang="en-US"/>
          </a:p>
        </p:txBody>
      </p:sp>
      <p:sp>
        <p:nvSpPr>
          <p:cNvPr id="7" name="TextBox 7"/>
          <p:cNvSpPr txBox="1"/>
          <p:nvPr/>
        </p:nvSpPr>
        <p:spPr>
          <a:xfrm>
            <a:off x="8031195" y="1200150"/>
            <a:ext cx="2853729" cy="1120774"/>
          </a:xfrm>
          <a:prstGeom prst="rect">
            <a:avLst/>
          </a:prstGeom>
        </p:spPr>
        <p:txBody>
          <a:bodyPr lIns="0" tIns="0" rIns="0" bIns="0" rtlCol="0" anchor="t">
            <a:spAutoFit/>
          </a:bodyPr>
          <a:lstStyle/>
          <a:p>
            <a:pPr marL="0" lvl="0" indent="0" algn="just">
              <a:lnSpc>
                <a:spcPts val="8499"/>
              </a:lnSpc>
              <a:spcBef>
                <a:spcPct val="0"/>
              </a:spcBef>
            </a:pPr>
            <a:r>
              <a:rPr lang="en-US" sz="8499" u="none" strike="noStrike">
                <a:solidFill>
                  <a:srgbClr val="6D563C"/>
                </a:solidFill>
                <a:latin typeface="Fredoka"/>
                <a:ea typeface="Fredoka"/>
                <a:cs typeface="Fredoka"/>
                <a:sym typeface="Fredoka"/>
              </a:rPr>
              <a:t>EDA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grpSp>
        <p:nvGrpSpPr>
          <p:cNvPr id="2" name="Group 2"/>
          <p:cNvGrpSpPr/>
          <p:nvPr/>
        </p:nvGrpSpPr>
        <p:grpSpPr>
          <a:xfrm>
            <a:off x="264279" y="5497945"/>
            <a:ext cx="6965747" cy="4571272"/>
            <a:chOff x="0" y="0"/>
            <a:chExt cx="812800" cy="533400"/>
          </a:xfrm>
        </p:grpSpPr>
        <p:sp>
          <p:nvSpPr>
            <p:cNvPr id="3" name="Freeform 3"/>
            <p:cNvSpPr/>
            <p:nvPr/>
          </p:nvSpPr>
          <p:spPr>
            <a:xfrm>
              <a:off x="0" y="0"/>
              <a:ext cx="827989" cy="537638"/>
            </a:xfrm>
            <a:custGeom>
              <a:avLst/>
              <a:gdLst/>
              <a:ahLst/>
              <a:cxnLst/>
              <a:rect l="l" t="t" r="r" b="b"/>
              <a:pathLst>
                <a:path w="827989" h="537638">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solidFill>
              <a:srgbClr val="A1A48F"/>
            </a:solidFill>
          </p:spPr>
          <p:txBody>
            <a:bodyPr/>
            <a:lstStyle/>
            <a:p>
              <a:endParaRPr lang="en-US"/>
            </a:p>
          </p:txBody>
        </p:sp>
        <p:sp>
          <p:nvSpPr>
            <p:cNvPr id="4" name="TextBox 4"/>
            <p:cNvSpPr txBox="1"/>
            <p:nvPr/>
          </p:nvSpPr>
          <p:spPr>
            <a:xfrm>
              <a:off x="38100" y="60325"/>
              <a:ext cx="736600" cy="396875"/>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0" y="2357664"/>
            <a:ext cx="17246269" cy="3470775"/>
          </a:xfrm>
          <a:prstGeom prst="rect">
            <a:avLst/>
          </a:prstGeom>
        </p:spPr>
        <p:txBody>
          <a:bodyPr lIns="0" tIns="0" rIns="0" bIns="0" rtlCol="0" anchor="t">
            <a:spAutoFit/>
          </a:bodyPr>
          <a:lstStyle/>
          <a:p>
            <a:pPr algn="ctr">
              <a:lnSpc>
                <a:spcPts val="5519"/>
              </a:lnSpc>
              <a:spcBef>
                <a:spcPct val="0"/>
              </a:spcBef>
            </a:pPr>
            <a:r>
              <a:rPr lang="en-US" sz="3999">
                <a:solidFill>
                  <a:srgbClr val="000000"/>
                </a:solidFill>
                <a:latin typeface="Questrial"/>
                <a:ea typeface="Questrial"/>
                <a:cs typeface="Questrial"/>
                <a:sym typeface="Questrial"/>
              </a:rPr>
              <a:t>We chose a hybrid model architecture combining Transformer and Convolutional Neural Network (CNN) to capture complex representations from both drug and protein sequences, enhancing the overall quality and precision of binding affinity predictions.</a:t>
            </a:r>
          </a:p>
          <a:p>
            <a:pPr algn="ctr">
              <a:lnSpc>
                <a:spcPts val="5519"/>
              </a:lnSpc>
              <a:spcBef>
                <a:spcPct val="0"/>
              </a:spcBef>
            </a:pPr>
            <a:endParaRPr lang="en-US" sz="3999">
              <a:solidFill>
                <a:srgbClr val="000000"/>
              </a:solidFill>
              <a:latin typeface="Questrial"/>
              <a:ea typeface="Questrial"/>
              <a:cs typeface="Questrial"/>
              <a:sym typeface="Questrial"/>
            </a:endParaRPr>
          </a:p>
        </p:txBody>
      </p:sp>
      <p:sp>
        <p:nvSpPr>
          <p:cNvPr id="6" name="TextBox 6"/>
          <p:cNvSpPr txBox="1"/>
          <p:nvPr/>
        </p:nvSpPr>
        <p:spPr>
          <a:xfrm>
            <a:off x="4912324" y="636270"/>
            <a:ext cx="8463352"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MODEL SELECTION</a:t>
            </a:r>
          </a:p>
        </p:txBody>
      </p:sp>
      <p:grpSp>
        <p:nvGrpSpPr>
          <p:cNvPr id="7" name="Group 7"/>
          <p:cNvGrpSpPr/>
          <p:nvPr/>
        </p:nvGrpSpPr>
        <p:grpSpPr>
          <a:xfrm>
            <a:off x="10703771" y="5497945"/>
            <a:ext cx="6965747" cy="4571272"/>
            <a:chOff x="0" y="0"/>
            <a:chExt cx="812800" cy="533400"/>
          </a:xfrm>
        </p:grpSpPr>
        <p:sp>
          <p:nvSpPr>
            <p:cNvPr id="8" name="Freeform 8"/>
            <p:cNvSpPr/>
            <p:nvPr/>
          </p:nvSpPr>
          <p:spPr>
            <a:xfrm>
              <a:off x="0" y="0"/>
              <a:ext cx="827989" cy="537638"/>
            </a:xfrm>
            <a:custGeom>
              <a:avLst/>
              <a:gdLst/>
              <a:ahLst/>
              <a:cxnLst/>
              <a:rect l="l" t="t" r="r" b="b"/>
              <a:pathLst>
                <a:path w="827989" h="537638">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solidFill>
              <a:srgbClr val="A1A48F"/>
            </a:solidFill>
          </p:spPr>
          <p:txBody>
            <a:bodyPr/>
            <a:lstStyle/>
            <a:p>
              <a:endParaRPr lang="en-US"/>
            </a:p>
          </p:txBody>
        </p:sp>
        <p:sp>
          <p:nvSpPr>
            <p:cNvPr id="9" name="TextBox 9"/>
            <p:cNvSpPr txBox="1"/>
            <p:nvPr/>
          </p:nvSpPr>
          <p:spPr>
            <a:xfrm>
              <a:off x="38100" y="60325"/>
              <a:ext cx="736600" cy="396875"/>
            </a:xfrm>
            <a:prstGeom prst="rect">
              <a:avLst/>
            </a:prstGeom>
          </p:spPr>
          <p:txBody>
            <a:bodyPr lIns="50800" tIns="50800" rIns="50800" bIns="50800" rtlCol="0" anchor="ctr"/>
            <a:lstStyle/>
            <a:p>
              <a:pPr algn="ctr">
                <a:lnSpc>
                  <a:spcPts val="2520"/>
                </a:lnSpc>
              </a:pPr>
              <a:endParaRPr/>
            </a:p>
          </p:txBody>
        </p:sp>
      </p:grpSp>
      <p:sp>
        <p:nvSpPr>
          <p:cNvPr id="10" name="TextBox 10"/>
          <p:cNvSpPr txBox="1"/>
          <p:nvPr/>
        </p:nvSpPr>
        <p:spPr>
          <a:xfrm>
            <a:off x="1401513" y="6940809"/>
            <a:ext cx="4691280" cy="1590294"/>
          </a:xfrm>
          <a:prstGeom prst="rect">
            <a:avLst/>
          </a:prstGeom>
        </p:spPr>
        <p:txBody>
          <a:bodyPr lIns="0" tIns="0" rIns="0" bIns="0" rtlCol="0" anchor="t">
            <a:spAutoFit/>
          </a:bodyPr>
          <a:lstStyle/>
          <a:p>
            <a:pPr algn="ctr">
              <a:lnSpc>
                <a:spcPts val="6347"/>
              </a:lnSpc>
              <a:spcBef>
                <a:spcPct val="0"/>
              </a:spcBef>
            </a:pPr>
            <a:r>
              <a:rPr lang="en-US" sz="4599">
                <a:solidFill>
                  <a:srgbClr val="FEFEFE"/>
                </a:solidFill>
                <a:latin typeface="Questrial"/>
                <a:ea typeface="Questrial"/>
                <a:cs typeface="Questrial"/>
                <a:sym typeface="Questrial"/>
              </a:rPr>
              <a:t>Transformers for Drug Sequences</a:t>
            </a:r>
          </a:p>
        </p:txBody>
      </p:sp>
      <p:sp>
        <p:nvSpPr>
          <p:cNvPr id="11" name="TextBox 11"/>
          <p:cNvSpPr txBox="1"/>
          <p:nvPr/>
        </p:nvSpPr>
        <p:spPr>
          <a:xfrm>
            <a:off x="11841005" y="6940809"/>
            <a:ext cx="4691280" cy="1590294"/>
          </a:xfrm>
          <a:prstGeom prst="rect">
            <a:avLst/>
          </a:prstGeom>
        </p:spPr>
        <p:txBody>
          <a:bodyPr lIns="0" tIns="0" rIns="0" bIns="0" rtlCol="0" anchor="t">
            <a:spAutoFit/>
          </a:bodyPr>
          <a:lstStyle/>
          <a:p>
            <a:pPr algn="ctr">
              <a:lnSpc>
                <a:spcPts val="6347"/>
              </a:lnSpc>
              <a:spcBef>
                <a:spcPct val="0"/>
              </a:spcBef>
            </a:pPr>
            <a:r>
              <a:rPr lang="en-US" sz="4599">
                <a:solidFill>
                  <a:srgbClr val="FEFEFE"/>
                </a:solidFill>
                <a:latin typeface="Questrial"/>
                <a:ea typeface="Questrial"/>
                <a:cs typeface="Questrial"/>
                <a:sym typeface="Questrial"/>
              </a:rPr>
              <a:t>CNN for Protein Sequences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grpSp>
        <p:nvGrpSpPr>
          <p:cNvPr id="2" name="Group 2"/>
          <p:cNvGrpSpPr/>
          <p:nvPr/>
        </p:nvGrpSpPr>
        <p:grpSpPr>
          <a:xfrm>
            <a:off x="452072" y="247402"/>
            <a:ext cx="17383856" cy="10039598"/>
            <a:chOff x="0" y="0"/>
            <a:chExt cx="4578464" cy="2644174"/>
          </a:xfrm>
        </p:grpSpPr>
        <p:sp>
          <p:nvSpPr>
            <p:cNvPr id="3" name="Freeform 3"/>
            <p:cNvSpPr/>
            <p:nvPr/>
          </p:nvSpPr>
          <p:spPr>
            <a:xfrm>
              <a:off x="0" y="0"/>
              <a:ext cx="4578464" cy="2644174"/>
            </a:xfrm>
            <a:custGeom>
              <a:avLst/>
              <a:gdLst/>
              <a:ahLst/>
              <a:cxnLst/>
              <a:rect l="l" t="t" r="r" b="b"/>
              <a:pathLst>
                <a:path w="4578464" h="2644174">
                  <a:moveTo>
                    <a:pt x="0" y="50800"/>
                  </a:moveTo>
                  <a:lnTo>
                    <a:pt x="2289232" y="0"/>
                  </a:lnTo>
                  <a:lnTo>
                    <a:pt x="4578464" y="50800"/>
                  </a:lnTo>
                  <a:lnTo>
                    <a:pt x="4578464" y="2593374"/>
                  </a:lnTo>
                  <a:lnTo>
                    <a:pt x="2289232" y="2644174"/>
                  </a:lnTo>
                  <a:lnTo>
                    <a:pt x="0" y="2593374"/>
                  </a:lnTo>
                  <a:lnTo>
                    <a:pt x="0" y="50800"/>
                  </a:lnTo>
                  <a:close/>
                </a:path>
              </a:pathLst>
            </a:custGeom>
            <a:solidFill>
              <a:srgbClr val="A1A48F"/>
            </a:solidFill>
          </p:spPr>
          <p:txBody>
            <a:bodyPr/>
            <a:lstStyle/>
            <a:p>
              <a:endParaRPr lang="en-US"/>
            </a:p>
          </p:txBody>
        </p:sp>
        <p:sp>
          <p:nvSpPr>
            <p:cNvPr id="4" name="TextBox 4"/>
            <p:cNvSpPr txBox="1"/>
            <p:nvPr/>
          </p:nvSpPr>
          <p:spPr>
            <a:xfrm>
              <a:off x="0" y="-3175"/>
              <a:ext cx="4578464" cy="2621949"/>
            </a:xfrm>
            <a:prstGeom prst="rect">
              <a:avLst/>
            </a:prstGeom>
          </p:spPr>
          <p:txBody>
            <a:bodyPr lIns="50800" tIns="50800" rIns="50800" bIns="50800" rtlCol="0" anchor="ctr"/>
            <a:lstStyle/>
            <a:p>
              <a:pPr algn="ctr">
                <a:lnSpc>
                  <a:spcPts val="2520"/>
                </a:lnSpc>
              </a:pPr>
              <a:endParaRPr/>
            </a:p>
          </p:txBody>
        </p:sp>
      </p:grpSp>
      <p:sp>
        <p:nvSpPr>
          <p:cNvPr id="5" name="Freeform 5"/>
          <p:cNvSpPr/>
          <p:nvPr/>
        </p:nvSpPr>
        <p:spPr>
          <a:xfrm>
            <a:off x="1028700" y="2733609"/>
            <a:ext cx="5680207" cy="7098956"/>
          </a:xfrm>
          <a:custGeom>
            <a:avLst/>
            <a:gdLst/>
            <a:ahLst/>
            <a:cxnLst/>
            <a:rect l="l" t="t" r="r" b="b"/>
            <a:pathLst>
              <a:path w="5680207" h="7098956">
                <a:moveTo>
                  <a:pt x="0" y="0"/>
                </a:moveTo>
                <a:lnTo>
                  <a:pt x="5680207" y="0"/>
                </a:lnTo>
                <a:lnTo>
                  <a:pt x="5680207" y="7098956"/>
                </a:lnTo>
                <a:lnTo>
                  <a:pt x="0" y="7098956"/>
                </a:lnTo>
                <a:lnTo>
                  <a:pt x="0" y="0"/>
                </a:lnTo>
                <a:close/>
              </a:path>
            </a:pathLst>
          </a:custGeom>
          <a:blipFill>
            <a:blip r:embed="rId3"/>
            <a:stretch>
              <a:fillRect b="-44390"/>
            </a:stretch>
          </a:blipFill>
        </p:spPr>
        <p:txBody>
          <a:bodyPr/>
          <a:lstStyle/>
          <a:p>
            <a:endParaRPr lang="en-US"/>
          </a:p>
        </p:txBody>
      </p:sp>
      <p:sp>
        <p:nvSpPr>
          <p:cNvPr id="6" name="Freeform 6"/>
          <p:cNvSpPr/>
          <p:nvPr/>
        </p:nvSpPr>
        <p:spPr>
          <a:xfrm>
            <a:off x="9438138" y="3020742"/>
            <a:ext cx="6492955" cy="6524691"/>
          </a:xfrm>
          <a:custGeom>
            <a:avLst/>
            <a:gdLst/>
            <a:ahLst/>
            <a:cxnLst/>
            <a:rect l="l" t="t" r="r" b="b"/>
            <a:pathLst>
              <a:path w="6492955" h="6524691">
                <a:moveTo>
                  <a:pt x="0" y="0"/>
                </a:moveTo>
                <a:lnTo>
                  <a:pt x="6492955" y="0"/>
                </a:lnTo>
                <a:lnTo>
                  <a:pt x="6492955" y="6524690"/>
                </a:lnTo>
                <a:lnTo>
                  <a:pt x="0" y="6524690"/>
                </a:lnTo>
                <a:lnTo>
                  <a:pt x="0" y="0"/>
                </a:lnTo>
                <a:close/>
              </a:path>
            </a:pathLst>
          </a:custGeom>
          <a:blipFill>
            <a:blip r:embed="rId4"/>
            <a:stretch>
              <a:fillRect l="-1703" t="-85693" r="-1703"/>
            </a:stretch>
          </a:blipFill>
        </p:spPr>
        <p:txBody>
          <a:bodyPr/>
          <a:lstStyle/>
          <a:p>
            <a:endParaRPr lang="en-US"/>
          </a:p>
        </p:txBody>
      </p:sp>
      <p:sp>
        <p:nvSpPr>
          <p:cNvPr id="7" name="TextBox 7"/>
          <p:cNvSpPr txBox="1"/>
          <p:nvPr/>
        </p:nvSpPr>
        <p:spPr>
          <a:xfrm>
            <a:off x="4903754" y="636270"/>
            <a:ext cx="8480491"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MODEL OVERVIEW</a:t>
            </a:r>
          </a:p>
        </p:txBody>
      </p:sp>
      <p:sp>
        <p:nvSpPr>
          <p:cNvPr id="8" name="TextBox 8"/>
          <p:cNvSpPr txBox="1"/>
          <p:nvPr/>
        </p:nvSpPr>
        <p:spPr>
          <a:xfrm>
            <a:off x="15972750" y="4903673"/>
            <a:ext cx="1286550" cy="1838325"/>
          </a:xfrm>
          <a:prstGeom prst="rect">
            <a:avLst/>
          </a:prstGeom>
        </p:spPr>
        <p:txBody>
          <a:bodyPr lIns="0" tIns="0" rIns="0" bIns="0" rtlCol="0" anchor="t">
            <a:spAutoFit/>
          </a:bodyPr>
          <a:lstStyle/>
          <a:p>
            <a:pPr algn="ctr">
              <a:lnSpc>
                <a:spcPts val="14400"/>
              </a:lnSpc>
            </a:pPr>
            <a:r>
              <a:rPr lang="en-US" sz="12000">
                <a:solidFill>
                  <a:srgbClr val="FEFEFE"/>
                </a:solidFill>
                <a:latin typeface="Questrial"/>
                <a:ea typeface="Questrial"/>
                <a:cs typeface="Questrial"/>
                <a:sym typeface="Questrial"/>
              </a:rPr>
              <a:t>II.</a:t>
            </a:r>
          </a:p>
        </p:txBody>
      </p:sp>
      <p:sp>
        <p:nvSpPr>
          <p:cNvPr id="9" name="TextBox 9"/>
          <p:cNvSpPr txBox="1"/>
          <p:nvPr/>
        </p:nvSpPr>
        <p:spPr>
          <a:xfrm>
            <a:off x="6708907" y="4903673"/>
            <a:ext cx="1286550" cy="1838325"/>
          </a:xfrm>
          <a:prstGeom prst="rect">
            <a:avLst/>
          </a:prstGeom>
        </p:spPr>
        <p:txBody>
          <a:bodyPr lIns="0" tIns="0" rIns="0" bIns="0" rtlCol="0" anchor="t">
            <a:spAutoFit/>
          </a:bodyPr>
          <a:lstStyle/>
          <a:p>
            <a:pPr algn="ctr">
              <a:lnSpc>
                <a:spcPts val="14400"/>
              </a:lnSpc>
            </a:pPr>
            <a:r>
              <a:rPr lang="en-US" sz="12000">
                <a:solidFill>
                  <a:srgbClr val="FEFEFE"/>
                </a:solidFill>
                <a:latin typeface="Questrial"/>
                <a:ea typeface="Questrial"/>
                <a:cs typeface="Questrial"/>
                <a:sym typeface="Questrial"/>
              </a:rPr>
              <a:t>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ED9CC"/>
        </a:solidFill>
        <a:effectLst/>
      </p:bgPr>
    </p:bg>
    <p:spTree>
      <p:nvGrpSpPr>
        <p:cNvPr id="1" name=""/>
        <p:cNvGrpSpPr/>
        <p:nvPr/>
      </p:nvGrpSpPr>
      <p:grpSpPr>
        <a:xfrm>
          <a:off x="0" y="0"/>
          <a:ext cx="0" cy="0"/>
          <a:chOff x="0" y="0"/>
          <a:chExt cx="0" cy="0"/>
        </a:xfrm>
      </p:grpSpPr>
      <p:grpSp>
        <p:nvGrpSpPr>
          <p:cNvPr id="2" name="Group 2"/>
          <p:cNvGrpSpPr/>
          <p:nvPr/>
        </p:nvGrpSpPr>
        <p:grpSpPr>
          <a:xfrm>
            <a:off x="452072" y="247402"/>
            <a:ext cx="17383856" cy="10039598"/>
            <a:chOff x="0" y="0"/>
            <a:chExt cx="4578464" cy="2644174"/>
          </a:xfrm>
        </p:grpSpPr>
        <p:sp>
          <p:nvSpPr>
            <p:cNvPr id="3" name="Freeform 3"/>
            <p:cNvSpPr/>
            <p:nvPr/>
          </p:nvSpPr>
          <p:spPr>
            <a:xfrm>
              <a:off x="0" y="0"/>
              <a:ext cx="4578464" cy="2644174"/>
            </a:xfrm>
            <a:custGeom>
              <a:avLst/>
              <a:gdLst/>
              <a:ahLst/>
              <a:cxnLst/>
              <a:rect l="l" t="t" r="r" b="b"/>
              <a:pathLst>
                <a:path w="4578464" h="2644174">
                  <a:moveTo>
                    <a:pt x="0" y="50800"/>
                  </a:moveTo>
                  <a:lnTo>
                    <a:pt x="2289232" y="0"/>
                  </a:lnTo>
                  <a:lnTo>
                    <a:pt x="4578464" y="50800"/>
                  </a:lnTo>
                  <a:lnTo>
                    <a:pt x="4578464" y="2593374"/>
                  </a:lnTo>
                  <a:lnTo>
                    <a:pt x="2289232" y="2644174"/>
                  </a:lnTo>
                  <a:lnTo>
                    <a:pt x="0" y="2593374"/>
                  </a:lnTo>
                  <a:lnTo>
                    <a:pt x="0" y="50800"/>
                  </a:lnTo>
                  <a:close/>
                </a:path>
              </a:pathLst>
            </a:custGeom>
            <a:solidFill>
              <a:srgbClr val="A1A48F"/>
            </a:solidFill>
          </p:spPr>
          <p:txBody>
            <a:bodyPr/>
            <a:lstStyle/>
            <a:p>
              <a:endParaRPr lang="en-US"/>
            </a:p>
          </p:txBody>
        </p:sp>
        <p:sp>
          <p:nvSpPr>
            <p:cNvPr id="4" name="TextBox 4"/>
            <p:cNvSpPr txBox="1"/>
            <p:nvPr/>
          </p:nvSpPr>
          <p:spPr>
            <a:xfrm>
              <a:off x="0" y="-3175"/>
              <a:ext cx="4578464" cy="2621949"/>
            </a:xfrm>
            <a:prstGeom prst="rect">
              <a:avLst/>
            </a:prstGeom>
          </p:spPr>
          <p:txBody>
            <a:bodyPr lIns="50800" tIns="50800" rIns="50800" bIns="50800" rtlCol="0" anchor="ctr"/>
            <a:lstStyle/>
            <a:p>
              <a:pPr algn="ctr">
                <a:lnSpc>
                  <a:spcPts val="2520"/>
                </a:lnSpc>
              </a:pPr>
              <a:endParaRPr/>
            </a:p>
          </p:txBody>
        </p:sp>
      </p:grpSp>
      <p:sp>
        <p:nvSpPr>
          <p:cNvPr id="5" name="Freeform 5"/>
          <p:cNvSpPr/>
          <p:nvPr/>
        </p:nvSpPr>
        <p:spPr>
          <a:xfrm>
            <a:off x="7128857" y="646286"/>
            <a:ext cx="10437103" cy="9241830"/>
          </a:xfrm>
          <a:custGeom>
            <a:avLst/>
            <a:gdLst/>
            <a:ahLst/>
            <a:cxnLst/>
            <a:rect l="l" t="t" r="r" b="b"/>
            <a:pathLst>
              <a:path w="10437103" h="9241830">
                <a:moveTo>
                  <a:pt x="0" y="0"/>
                </a:moveTo>
                <a:lnTo>
                  <a:pt x="10437104" y="0"/>
                </a:lnTo>
                <a:lnTo>
                  <a:pt x="10437104" y="9241830"/>
                </a:lnTo>
                <a:lnTo>
                  <a:pt x="0" y="9241830"/>
                </a:lnTo>
                <a:lnTo>
                  <a:pt x="0" y="0"/>
                </a:lnTo>
                <a:close/>
              </a:path>
            </a:pathLst>
          </a:custGeom>
          <a:blipFill>
            <a:blip r:embed="rId3"/>
            <a:stretch>
              <a:fillRect l="-15105" r="-15105" b="-22592"/>
            </a:stretch>
          </a:blipFill>
        </p:spPr>
        <p:txBody>
          <a:bodyPr/>
          <a:lstStyle/>
          <a:p>
            <a:endParaRPr lang="en-US"/>
          </a:p>
        </p:txBody>
      </p:sp>
      <p:sp>
        <p:nvSpPr>
          <p:cNvPr id="6" name="TextBox 6"/>
          <p:cNvSpPr txBox="1"/>
          <p:nvPr/>
        </p:nvSpPr>
        <p:spPr>
          <a:xfrm>
            <a:off x="452072" y="4312920"/>
            <a:ext cx="6676785" cy="1794510"/>
          </a:xfrm>
          <a:prstGeom prst="rect">
            <a:avLst/>
          </a:prstGeom>
        </p:spPr>
        <p:txBody>
          <a:bodyPr lIns="0" tIns="0" rIns="0" bIns="0" rtlCol="0" anchor="t">
            <a:spAutoFit/>
          </a:bodyPr>
          <a:lstStyle/>
          <a:p>
            <a:pPr marL="0" lvl="0" indent="0" algn="ctr">
              <a:lnSpc>
                <a:spcPts val="6900"/>
              </a:lnSpc>
              <a:spcBef>
                <a:spcPct val="0"/>
              </a:spcBef>
            </a:pPr>
            <a:r>
              <a:rPr lang="en-US" sz="6900" u="none" strike="noStrike">
                <a:solidFill>
                  <a:srgbClr val="6D563C"/>
                </a:solidFill>
                <a:latin typeface="Fredoka"/>
                <a:ea typeface="Fredoka"/>
                <a:cs typeface="Fredoka"/>
                <a:sym typeface="Fredoka"/>
              </a:rPr>
              <a:t>MODEL</a:t>
            </a:r>
          </a:p>
          <a:p>
            <a:pPr marL="0" lvl="0" indent="0" algn="ctr">
              <a:lnSpc>
                <a:spcPts val="6900"/>
              </a:lnSpc>
              <a:spcBef>
                <a:spcPct val="0"/>
              </a:spcBef>
            </a:pPr>
            <a:r>
              <a:rPr lang="en-US" sz="6900" u="none" strike="noStrike">
                <a:solidFill>
                  <a:srgbClr val="6D563C"/>
                </a:solidFill>
                <a:latin typeface="Fredoka"/>
                <a:ea typeface="Fredoka"/>
                <a:cs typeface="Fredoka"/>
                <a:sym typeface="Fredoka"/>
              </a:rPr>
              <a:t> DEPLOYMENT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DEBE8"/>
        </a:solidFill>
        <a:effectLst/>
      </p:bgPr>
    </p:bg>
    <p:spTree>
      <p:nvGrpSpPr>
        <p:cNvPr id="1" name=""/>
        <p:cNvGrpSpPr/>
        <p:nvPr/>
      </p:nvGrpSpPr>
      <p:grpSpPr>
        <a:xfrm>
          <a:off x="0" y="0"/>
          <a:ext cx="0" cy="0"/>
          <a:chOff x="0" y="0"/>
          <a:chExt cx="0" cy="0"/>
        </a:xfrm>
      </p:grpSpPr>
      <p:sp>
        <p:nvSpPr>
          <p:cNvPr id="2" name="Freeform 2"/>
          <p:cNvSpPr/>
          <p:nvPr/>
        </p:nvSpPr>
        <p:spPr>
          <a:xfrm>
            <a:off x="0" y="-3671410"/>
            <a:ext cx="19000012" cy="12817183"/>
          </a:xfrm>
          <a:custGeom>
            <a:avLst/>
            <a:gdLst/>
            <a:ahLst/>
            <a:cxnLst/>
            <a:rect l="l" t="t" r="r" b="b"/>
            <a:pathLst>
              <a:path w="19000012" h="12817183">
                <a:moveTo>
                  <a:pt x="0" y="0"/>
                </a:moveTo>
                <a:lnTo>
                  <a:pt x="19000012" y="0"/>
                </a:lnTo>
                <a:lnTo>
                  <a:pt x="19000012" y="12817182"/>
                </a:lnTo>
                <a:lnTo>
                  <a:pt x="0" y="128171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8700" y="2146380"/>
            <a:ext cx="6999393" cy="6999393"/>
          </a:xfrm>
          <a:custGeom>
            <a:avLst/>
            <a:gdLst/>
            <a:ahLst/>
            <a:cxnLst/>
            <a:rect l="l" t="t" r="r" b="b"/>
            <a:pathLst>
              <a:path w="6999393" h="6999393">
                <a:moveTo>
                  <a:pt x="0" y="0"/>
                </a:moveTo>
                <a:lnTo>
                  <a:pt x="6999393" y="0"/>
                </a:lnTo>
                <a:lnTo>
                  <a:pt x="6999393" y="6999392"/>
                </a:lnTo>
                <a:lnTo>
                  <a:pt x="0" y="6999392"/>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8500725" y="5627026"/>
            <a:ext cx="5154874" cy="1847850"/>
          </a:xfrm>
          <a:prstGeom prst="rect">
            <a:avLst/>
          </a:prstGeom>
        </p:spPr>
        <p:txBody>
          <a:bodyPr lIns="0" tIns="0" rIns="0" bIns="0" rtlCol="0" anchor="t">
            <a:spAutoFit/>
          </a:bodyPr>
          <a:lstStyle/>
          <a:p>
            <a:pPr marL="0" lvl="0" indent="0" algn="l">
              <a:lnSpc>
                <a:spcPts val="14400"/>
              </a:lnSpc>
              <a:spcBef>
                <a:spcPct val="0"/>
              </a:spcBef>
            </a:pPr>
            <a:r>
              <a:rPr lang="en-US" sz="12000" u="none" strike="noStrike">
                <a:solidFill>
                  <a:srgbClr val="383030"/>
                </a:solidFill>
                <a:latin typeface="Lilita One"/>
                <a:ea typeface="Lilita One"/>
                <a:cs typeface="Lilita One"/>
                <a:sym typeface="Lilita One"/>
              </a:rPr>
              <a:t>Results</a:t>
            </a:r>
          </a:p>
        </p:txBody>
      </p:sp>
      <p:sp>
        <p:nvSpPr>
          <p:cNvPr id="5" name="TextBox 5"/>
          <p:cNvSpPr txBox="1"/>
          <p:nvPr/>
        </p:nvSpPr>
        <p:spPr>
          <a:xfrm>
            <a:off x="8500725" y="2857500"/>
            <a:ext cx="1286550" cy="1838325"/>
          </a:xfrm>
          <a:prstGeom prst="rect">
            <a:avLst/>
          </a:prstGeom>
        </p:spPr>
        <p:txBody>
          <a:bodyPr lIns="0" tIns="0" rIns="0" bIns="0" rtlCol="0" anchor="t">
            <a:spAutoFit/>
          </a:bodyPr>
          <a:lstStyle/>
          <a:p>
            <a:pPr algn="ctr">
              <a:lnSpc>
                <a:spcPts val="14400"/>
              </a:lnSpc>
            </a:pPr>
            <a:r>
              <a:rPr lang="en-US" sz="12000">
                <a:solidFill>
                  <a:srgbClr val="5A6B47"/>
                </a:solidFill>
                <a:latin typeface="Questrial"/>
                <a:ea typeface="Questrial"/>
                <a:cs typeface="Questrial"/>
                <a:sym typeface="Questrial"/>
              </a:rPr>
              <a:t>III</a:t>
            </a:r>
          </a:p>
        </p:txBody>
      </p:sp>
      <p:sp>
        <p:nvSpPr>
          <p:cNvPr id="6" name="Freeform 6"/>
          <p:cNvSpPr/>
          <p:nvPr/>
        </p:nvSpPr>
        <p:spPr>
          <a:xfrm>
            <a:off x="54381" y="-756993"/>
            <a:ext cx="19527872" cy="11800986"/>
          </a:xfrm>
          <a:custGeom>
            <a:avLst/>
            <a:gdLst/>
            <a:ahLst/>
            <a:cxnLst/>
            <a:rect l="l" t="t" r="r" b="b"/>
            <a:pathLst>
              <a:path w="19527872" h="11800986">
                <a:moveTo>
                  <a:pt x="0" y="0"/>
                </a:moveTo>
                <a:lnTo>
                  <a:pt x="19527872" y="0"/>
                </a:lnTo>
                <a:lnTo>
                  <a:pt x="19527872" y="11800986"/>
                </a:lnTo>
                <a:lnTo>
                  <a:pt x="0" y="118009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EBE8"/>
        </a:solidFill>
        <a:effectLst/>
      </p:bgPr>
    </p:bg>
    <p:spTree>
      <p:nvGrpSpPr>
        <p:cNvPr id="1" name=""/>
        <p:cNvGrpSpPr/>
        <p:nvPr/>
      </p:nvGrpSpPr>
      <p:grpSpPr>
        <a:xfrm>
          <a:off x="0" y="0"/>
          <a:ext cx="0" cy="0"/>
          <a:chOff x="0" y="0"/>
          <a:chExt cx="0" cy="0"/>
        </a:xfrm>
      </p:grpSpPr>
      <p:sp>
        <p:nvSpPr>
          <p:cNvPr id="2" name="Freeform 2"/>
          <p:cNvSpPr/>
          <p:nvPr/>
        </p:nvSpPr>
        <p:spPr>
          <a:xfrm>
            <a:off x="-600886" y="-756993"/>
            <a:ext cx="19527872" cy="11800986"/>
          </a:xfrm>
          <a:custGeom>
            <a:avLst/>
            <a:gdLst/>
            <a:ahLst/>
            <a:cxnLst/>
            <a:rect l="l" t="t" r="r" b="b"/>
            <a:pathLst>
              <a:path w="19527872" h="11800986">
                <a:moveTo>
                  <a:pt x="0" y="0"/>
                </a:moveTo>
                <a:lnTo>
                  <a:pt x="19527872" y="0"/>
                </a:lnTo>
                <a:lnTo>
                  <a:pt x="19527872" y="11800986"/>
                </a:lnTo>
                <a:lnTo>
                  <a:pt x="0" y="118009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378354" y="1554480"/>
            <a:ext cx="6303900" cy="4116604"/>
          </a:xfrm>
          <a:custGeom>
            <a:avLst/>
            <a:gdLst/>
            <a:ahLst/>
            <a:cxnLst/>
            <a:rect l="l" t="t" r="r" b="b"/>
            <a:pathLst>
              <a:path w="6303900" h="4116604">
                <a:moveTo>
                  <a:pt x="0" y="0"/>
                </a:moveTo>
                <a:lnTo>
                  <a:pt x="6303900" y="0"/>
                </a:lnTo>
                <a:lnTo>
                  <a:pt x="6303900" y="4116604"/>
                </a:lnTo>
                <a:lnTo>
                  <a:pt x="0" y="4116604"/>
                </a:lnTo>
                <a:lnTo>
                  <a:pt x="0" y="0"/>
                </a:lnTo>
                <a:close/>
              </a:path>
            </a:pathLst>
          </a:custGeom>
          <a:blipFill>
            <a:blip r:embed="rId5"/>
            <a:stretch>
              <a:fillRect/>
            </a:stretch>
          </a:blipFill>
        </p:spPr>
        <p:txBody>
          <a:bodyPr/>
          <a:lstStyle/>
          <a:p>
            <a:endParaRPr lang="en-US"/>
          </a:p>
        </p:txBody>
      </p:sp>
      <p:sp>
        <p:nvSpPr>
          <p:cNvPr id="4" name="Freeform 4"/>
          <p:cNvSpPr/>
          <p:nvPr/>
        </p:nvSpPr>
        <p:spPr>
          <a:xfrm>
            <a:off x="10378354" y="6252474"/>
            <a:ext cx="6218520" cy="4034526"/>
          </a:xfrm>
          <a:custGeom>
            <a:avLst/>
            <a:gdLst/>
            <a:ahLst/>
            <a:cxnLst/>
            <a:rect l="l" t="t" r="r" b="b"/>
            <a:pathLst>
              <a:path w="6218520" h="4034526">
                <a:moveTo>
                  <a:pt x="0" y="0"/>
                </a:moveTo>
                <a:lnTo>
                  <a:pt x="6218520" y="0"/>
                </a:lnTo>
                <a:lnTo>
                  <a:pt x="6218520" y="4034526"/>
                </a:lnTo>
                <a:lnTo>
                  <a:pt x="0" y="4034526"/>
                </a:lnTo>
                <a:lnTo>
                  <a:pt x="0" y="0"/>
                </a:lnTo>
                <a:close/>
              </a:path>
            </a:pathLst>
          </a:custGeom>
          <a:blipFill>
            <a:blip r:embed="rId6"/>
            <a:stretch>
              <a:fillRect/>
            </a:stretch>
          </a:blipFill>
        </p:spPr>
        <p:txBody>
          <a:bodyPr/>
          <a:lstStyle/>
          <a:p>
            <a:endParaRPr lang="en-US"/>
          </a:p>
        </p:txBody>
      </p:sp>
      <p:sp>
        <p:nvSpPr>
          <p:cNvPr id="5" name="TextBox 5"/>
          <p:cNvSpPr txBox="1"/>
          <p:nvPr/>
        </p:nvSpPr>
        <p:spPr>
          <a:xfrm>
            <a:off x="28575" y="5496216"/>
            <a:ext cx="10609252" cy="756258"/>
          </a:xfrm>
          <a:prstGeom prst="rect">
            <a:avLst/>
          </a:prstGeom>
        </p:spPr>
        <p:txBody>
          <a:bodyPr lIns="0" tIns="0" rIns="0" bIns="0" rtlCol="0" anchor="t">
            <a:spAutoFit/>
          </a:bodyPr>
          <a:lstStyle/>
          <a:p>
            <a:pPr marL="863599" lvl="1" indent="-431800" algn="l">
              <a:lnSpc>
                <a:spcPts val="5519"/>
              </a:lnSpc>
              <a:buAutoNum type="arabicPeriod"/>
            </a:pPr>
            <a:r>
              <a:rPr lang="en-US" sz="3999" b="1">
                <a:solidFill>
                  <a:srgbClr val="383030"/>
                </a:solidFill>
                <a:latin typeface="Times New Roman Bold"/>
                <a:ea typeface="Times New Roman Bold"/>
                <a:cs typeface="Times New Roman Bold"/>
                <a:sym typeface="Times New Roman Bold"/>
              </a:rPr>
              <a:t>Training and Validation Loss Over Epochs</a:t>
            </a:r>
          </a:p>
        </p:txBody>
      </p:sp>
      <p:sp>
        <p:nvSpPr>
          <p:cNvPr id="6" name="TextBox 6"/>
          <p:cNvSpPr txBox="1"/>
          <p:nvPr/>
        </p:nvSpPr>
        <p:spPr>
          <a:xfrm>
            <a:off x="747128" y="340995"/>
            <a:ext cx="16831844"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RESULTS ANALYSIS AND EVALUATION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EBE8"/>
        </a:solidFill>
        <a:effectLst/>
      </p:bgPr>
    </p:bg>
    <p:spTree>
      <p:nvGrpSpPr>
        <p:cNvPr id="1" name=""/>
        <p:cNvGrpSpPr/>
        <p:nvPr/>
      </p:nvGrpSpPr>
      <p:grpSpPr>
        <a:xfrm>
          <a:off x="0" y="0"/>
          <a:ext cx="0" cy="0"/>
          <a:chOff x="0" y="0"/>
          <a:chExt cx="0" cy="0"/>
        </a:xfrm>
      </p:grpSpPr>
      <p:sp>
        <p:nvSpPr>
          <p:cNvPr id="2" name="Freeform 2"/>
          <p:cNvSpPr/>
          <p:nvPr/>
        </p:nvSpPr>
        <p:spPr>
          <a:xfrm>
            <a:off x="493689" y="4261287"/>
            <a:ext cx="8415922" cy="5515733"/>
          </a:xfrm>
          <a:custGeom>
            <a:avLst/>
            <a:gdLst/>
            <a:ahLst/>
            <a:cxnLst/>
            <a:rect l="l" t="t" r="r" b="b"/>
            <a:pathLst>
              <a:path w="8415922" h="5515733">
                <a:moveTo>
                  <a:pt x="0" y="0"/>
                </a:moveTo>
                <a:lnTo>
                  <a:pt x="8415922" y="0"/>
                </a:lnTo>
                <a:lnTo>
                  <a:pt x="8415922" y="5515732"/>
                </a:lnTo>
                <a:lnTo>
                  <a:pt x="0" y="5515732"/>
                </a:lnTo>
                <a:lnTo>
                  <a:pt x="0" y="0"/>
                </a:lnTo>
                <a:close/>
              </a:path>
            </a:pathLst>
          </a:custGeom>
          <a:blipFill>
            <a:blip r:embed="rId3"/>
            <a:stretch>
              <a:fillRect l="-2062" t="-488" r="-2062"/>
            </a:stretch>
          </a:blipFill>
        </p:spPr>
        <p:txBody>
          <a:bodyPr/>
          <a:lstStyle/>
          <a:p>
            <a:endParaRPr lang="en-US"/>
          </a:p>
        </p:txBody>
      </p:sp>
      <p:sp>
        <p:nvSpPr>
          <p:cNvPr id="3" name="AutoShape 3"/>
          <p:cNvSpPr/>
          <p:nvPr/>
        </p:nvSpPr>
        <p:spPr>
          <a:xfrm>
            <a:off x="9638077" y="2162283"/>
            <a:ext cx="0" cy="7614736"/>
          </a:xfrm>
          <a:prstGeom prst="line">
            <a:avLst/>
          </a:prstGeom>
          <a:ln w="114300" cap="flat">
            <a:solidFill>
              <a:srgbClr val="6D563C"/>
            </a:solidFill>
            <a:prstDash val="solid"/>
            <a:headEnd type="none" w="sm" len="sm"/>
            <a:tailEnd type="none" w="sm" len="sm"/>
          </a:ln>
        </p:spPr>
        <p:txBody>
          <a:bodyPr/>
          <a:lstStyle/>
          <a:p>
            <a:endParaRPr lang="en-US"/>
          </a:p>
        </p:txBody>
      </p:sp>
      <p:sp>
        <p:nvSpPr>
          <p:cNvPr id="4" name="TextBox 4"/>
          <p:cNvSpPr txBox="1"/>
          <p:nvPr/>
        </p:nvSpPr>
        <p:spPr>
          <a:xfrm>
            <a:off x="728078" y="1964163"/>
            <a:ext cx="8415922" cy="1451610"/>
          </a:xfrm>
          <a:prstGeom prst="rect">
            <a:avLst/>
          </a:prstGeom>
        </p:spPr>
        <p:txBody>
          <a:bodyPr lIns="0" tIns="0" rIns="0" bIns="0" rtlCol="0" anchor="t">
            <a:spAutoFit/>
          </a:bodyPr>
          <a:lstStyle/>
          <a:p>
            <a:pPr algn="l">
              <a:lnSpc>
                <a:spcPts val="5519"/>
              </a:lnSpc>
            </a:pPr>
            <a:r>
              <a:rPr lang="en-US" sz="3999" b="1">
                <a:solidFill>
                  <a:srgbClr val="383030"/>
                </a:solidFill>
                <a:latin typeface="Times New Roman Bold"/>
                <a:ea typeface="Times New Roman Bold"/>
                <a:cs typeface="Times New Roman Bold"/>
                <a:sym typeface="Times New Roman Bold"/>
              </a:rPr>
              <a:t>2. Testing and Validation Concordance Index Over Epochs</a:t>
            </a:r>
          </a:p>
        </p:txBody>
      </p:sp>
      <p:sp>
        <p:nvSpPr>
          <p:cNvPr id="5" name="TextBox 5"/>
          <p:cNvSpPr txBox="1"/>
          <p:nvPr/>
        </p:nvSpPr>
        <p:spPr>
          <a:xfrm>
            <a:off x="728078" y="455295"/>
            <a:ext cx="16831844"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RESULTS ANALYSIS AND EVALUATION</a:t>
            </a:r>
          </a:p>
        </p:txBody>
      </p:sp>
      <p:sp>
        <p:nvSpPr>
          <p:cNvPr id="6" name="TextBox 6"/>
          <p:cNvSpPr txBox="1"/>
          <p:nvPr/>
        </p:nvSpPr>
        <p:spPr>
          <a:xfrm>
            <a:off x="10361977" y="2404428"/>
            <a:ext cx="7455120" cy="6011545"/>
          </a:xfrm>
          <a:prstGeom prst="rect">
            <a:avLst/>
          </a:prstGeom>
        </p:spPr>
        <p:txBody>
          <a:bodyPr lIns="0" tIns="0" rIns="0" bIns="0" rtlCol="0" anchor="t">
            <a:spAutoFit/>
          </a:bodyPr>
          <a:lstStyle/>
          <a:p>
            <a:pPr algn="l">
              <a:lnSpc>
                <a:spcPts val="3999"/>
              </a:lnSpc>
            </a:pPr>
            <a:r>
              <a:rPr lang="en-US" sz="3999" u="sng">
                <a:solidFill>
                  <a:srgbClr val="6D563C"/>
                </a:solidFill>
                <a:latin typeface="Fredoka"/>
                <a:ea typeface="Fredoka"/>
                <a:cs typeface="Fredoka"/>
                <a:sym typeface="Fredoka"/>
              </a:rPr>
              <a:t> FINAL EVALUATION:</a:t>
            </a:r>
          </a:p>
          <a:p>
            <a:pPr algn="l">
              <a:lnSpc>
                <a:spcPts val="3600"/>
              </a:lnSpc>
            </a:pPr>
            <a:endParaRPr lang="en-US" sz="3999" u="sng">
              <a:solidFill>
                <a:srgbClr val="6D563C"/>
              </a:solidFill>
              <a:latin typeface="Fredoka"/>
              <a:ea typeface="Fredoka"/>
              <a:cs typeface="Fredoka"/>
              <a:sym typeface="Fredoka"/>
            </a:endParaRPr>
          </a:p>
          <a:p>
            <a:pPr algn="l">
              <a:lnSpc>
                <a:spcPts val="3600"/>
              </a:lnSpc>
            </a:pPr>
            <a:endParaRPr lang="en-US" sz="3999" u="sng">
              <a:solidFill>
                <a:srgbClr val="6D563C"/>
              </a:solidFill>
              <a:latin typeface="Fredoka"/>
              <a:ea typeface="Fredoka"/>
              <a:cs typeface="Fredoka"/>
              <a:sym typeface="Fredoka"/>
            </a:endParaRPr>
          </a:p>
          <a:p>
            <a:pPr algn="l">
              <a:lnSpc>
                <a:spcPts val="3600"/>
              </a:lnSpc>
            </a:pPr>
            <a:endParaRPr lang="en-US" sz="3999" u="sng">
              <a:solidFill>
                <a:srgbClr val="6D563C"/>
              </a:solidFill>
              <a:latin typeface="Fredoka"/>
              <a:ea typeface="Fredoka"/>
              <a:cs typeface="Fredoka"/>
              <a:sym typeface="Fredoka"/>
            </a:endParaRPr>
          </a:p>
          <a:p>
            <a:pPr marL="777240" lvl="1" indent="-388620" algn="l">
              <a:lnSpc>
                <a:spcPts val="3600"/>
              </a:lnSpc>
              <a:buFont typeface="Arial"/>
              <a:buChar char="•"/>
            </a:pPr>
            <a:r>
              <a:rPr lang="en-US" sz="3600">
                <a:solidFill>
                  <a:srgbClr val="6D563C"/>
                </a:solidFill>
                <a:latin typeface="Fredoka"/>
                <a:ea typeface="Fredoka"/>
                <a:cs typeface="Fredoka"/>
                <a:sym typeface="Fredoka"/>
              </a:rPr>
              <a:t>MEAN SQUARE ERROR (MSE): </a:t>
            </a:r>
          </a:p>
          <a:p>
            <a:pPr algn="l">
              <a:lnSpc>
                <a:spcPts val="3600"/>
              </a:lnSpc>
            </a:pPr>
            <a:endParaRPr lang="en-US" sz="3600">
              <a:solidFill>
                <a:srgbClr val="6D563C"/>
              </a:solidFill>
              <a:latin typeface="Fredoka"/>
              <a:ea typeface="Fredoka"/>
              <a:cs typeface="Fredoka"/>
              <a:sym typeface="Fredoka"/>
            </a:endParaRPr>
          </a:p>
          <a:p>
            <a:pPr algn="l">
              <a:lnSpc>
                <a:spcPts val="3600"/>
              </a:lnSpc>
            </a:pPr>
            <a:endParaRPr lang="en-US" sz="3600">
              <a:solidFill>
                <a:srgbClr val="6D563C"/>
              </a:solidFill>
              <a:latin typeface="Fredoka"/>
              <a:ea typeface="Fredoka"/>
              <a:cs typeface="Fredoka"/>
              <a:sym typeface="Fredoka"/>
            </a:endParaRPr>
          </a:p>
          <a:p>
            <a:pPr algn="l">
              <a:lnSpc>
                <a:spcPts val="3600"/>
              </a:lnSpc>
            </a:pPr>
            <a:endParaRPr lang="en-US" sz="3600">
              <a:solidFill>
                <a:srgbClr val="6D563C"/>
              </a:solidFill>
              <a:latin typeface="Fredoka"/>
              <a:ea typeface="Fredoka"/>
              <a:cs typeface="Fredoka"/>
              <a:sym typeface="Fredoka"/>
            </a:endParaRPr>
          </a:p>
          <a:p>
            <a:pPr algn="l">
              <a:lnSpc>
                <a:spcPts val="3600"/>
              </a:lnSpc>
            </a:pPr>
            <a:endParaRPr lang="en-US" sz="3600">
              <a:solidFill>
                <a:srgbClr val="6D563C"/>
              </a:solidFill>
              <a:latin typeface="Fredoka"/>
              <a:ea typeface="Fredoka"/>
              <a:cs typeface="Fredoka"/>
              <a:sym typeface="Fredoka"/>
            </a:endParaRPr>
          </a:p>
          <a:p>
            <a:pPr algn="l">
              <a:lnSpc>
                <a:spcPts val="3600"/>
              </a:lnSpc>
            </a:pPr>
            <a:endParaRPr lang="en-US" sz="3600">
              <a:solidFill>
                <a:srgbClr val="6D563C"/>
              </a:solidFill>
              <a:latin typeface="Fredoka"/>
              <a:ea typeface="Fredoka"/>
              <a:cs typeface="Fredoka"/>
              <a:sym typeface="Fredoka"/>
            </a:endParaRPr>
          </a:p>
          <a:p>
            <a:pPr algn="l">
              <a:lnSpc>
                <a:spcPts val="3600"/>
              </a:lnSpc>
            </a:pPr>
            <a:endParaRPr lang="en-US" sz="3600">
              <a:solidFill>
                <a:srgbClr val="6D563C"/>
              </a:solidFill>
              <a:latin typeface="Fredoka"/>
              <a:ea typeface="Fredoka"/>
              <a:cs typeface="Fredoka"/>
              <a:sym typeface="Fredoka"/>
            </a:endParaRPr>
          </a:p>
          <a:p>
            <a:pPr marL="777240" lvl="1" indent="-388620" algn="l">
              <a:lnSpc>
                <a:spcPts val="3600"/>
              </a:lnSpc>
              <a:buFont typeface="Arial"/>
              <a:buChar char="•"/>
            </a:pPr>
            <a:r>
              <a:rPr lang="en-US" sz="3600">
                <a:solidFill>
                  <a:srgbClr val="6D563C"/>
                </a:solidFill>
                <a:latin typeface="Fredoka"/>
                <a:ea typeface="Fredoka"/>
                <a:cs typeface="Fredoka"/>
                <a:sym typeface="Fredoka"/>
              </a:rPr>
              <a:t>CONCORDANCE INDEX (CI):</a:t>
            </a:r>
          </a:p>
          <a:p>
            <a:pPr algn="ctr">
              <a:lnSpc>
                <a:spcPts val="3600"/>
              </a:lnSpc>
              <a:spcBef>
                <a:spcPct val="0"/>
              </a:spcBef>
            </a:pPr>
            <a:endParaRPr lang="en-US" sz="3600">
              <a:solidFill>
                <a:srgbClr val="6D563C"/>
              </a:solidFill>
              <a:latin typeface="Fredoka"/>
              <a:ea typeface="Fredoka"/>
              <a:cs typeface="Fredoka"/>
              <a:sym typeface="Fredoka"/>
            </a:endParaRPr>
          </a:p>
        </p:txBody>
      </p:sp>
      <p:sp>
        <p:nvSpPr>
          <p:cNvPr id="7" name="TextBox 7"/>
          <p:cNvSpPr txBox="1"/>
          <p:nvPr/>
        </p:nvSpPr>
        <p:spPr>
          <a:xfrm>
            <a:off x="13637347" y="8965537"/>
            <a:ext cx="1568703" cy="481965"/>
          </a:xfrm>
          <a:prstGeom prst="rect">
            <a:avLst/>
          </a:prstGeom>
        </p:spPr>
        <p:txBody>
          <a:bodyPr lIns="0" tIns="0" rIns="0" bIns="0" rtlCol="0" anchor="t">
            <a:spAutoFit/>
          </a:bodyPr>
          <a:lstStyle/>
          <a:p>
            <a:pPr algn="ctr">
              <a:lnSpc>
                <a:spcPts val="3600"/>
              </a:lnSpc>
              <a:spcBef>
                <a:spcPct val="0"/>
              </a:spcBef>
            </a:pPr>
            <a:r>
              <a:rPr lang="en-US" sz="3600">
                <a:solidFill>
                  <a:srgbClr val="75B6B1"/>
                </a:solidFill>
                <a:latin typeface="Fredoka"/>
                <a:ea typeface="Fredoka"/>
                <a:cs typeface="Fredoka"/>
                <a:sym typeface="Fredoka"/>
              </a:rPr>
              <a:t> 0.8682</a:t>
            </a:r>
          </a:p>
        </p:txBody>
      </p:sp>
      <p:grpSp>
        <p:nvGrpSpPr>
          <p:cNvPr id="8" name="Group 8"/>
          <p:cNvGrpSpPr/>
          <p:nvPr/>
        </p:nvGrpSpPr>
        <p:grpSpPr>
          <a:xfrm>
            <a:off x="13288830" y="8040313"/>
            <a:ext cx="2265737" cy="22657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a:gradFill>
                <a:gsLst>
                  <a:gs pos="0">
                    <a:srgbClr val="CDFFD8">
                      <a:alpha val="100000"/>
                    </a:srgbClr>
                  </a:gs>
                  <a:gs pos="100000">
                    <a:srgbClr val="94B9FF">
                      <a:alpha val="100000"/>
                    </a:srgbClr>
                  </a:gs>
                </a:gsLst>
                <a:lin ang="0"/>
              </a:gradFill>
              <a:prstDash val="solid"/>
              <a:miter/>
            </a:ln>
          </p:spPr>
          <p:txBody>
            <a:bodyPr/>
            <a:lstStyle/>
            <a:p>
              <a:endParaRPr lang="en-US"/>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3122749" y="4800600"/>
            <a:ext cx="2265737" cy="226573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a:gradFill>
                <a:gsLst>
                  <a:gs pos="0">
                    <a:srgbClr val="CDFFD8">
                      <a:alpha val="100000"/>
                    </a:srgbClr>
                  </a:gs>
                  <a:gs pos="100000">
                    <a:srgbClr val="94B9FF">
                      <a:alpha val="100000"/>
                    </a:srgbClr>
                  </a:gs>
                </a:gsLst>
                <a:lin ang="0"/>
              </a:gradFill>
              <a:prstDash val="solid"/>
              <a:miter/>
            </a:ln>
          </p:spPr>
          <p:txBody>
            <a:bodyPr/>
            <a:lstStyle/>
            <a:p>
              <a:endParaRPr lang="en-US"/>
            </a:p>
          </p:txBody>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4" name="TextBox 14"/>
          <p:cNvSpPr txBox="1"/>
          <p:nvPr/>
        </p:nvSpPr>
        <p:spPr>
          <a:xfrm>
            <a:off x="13546005" y="5725823"/>
            <a:ext cx="1419225" cy="481965"/>
          </a:xfrm>
          <a:prstGeom prst="rect">
            <a:avLst/>
          </a:prstGeom>
        </p:spPr>
        <p:txBody>
          <a:bodyPr lIns="0" tIns="0" rIns="0" bIns="0" rtlCol="0" anchor="t">
            <a:spAutoFit/>
          </a:bodyPr>
          <a:lstStyle/>
          <a:p>
            <a:pPr algn="ctr">
              <a:lnSpc>
                <a:spcPts val="3600"/>
              </a:lnSpc>
              <a:spcBef>
                <a:spcPct val="0"/>
              </a:spcBef>
            </a:pPr>
            <a:r>
              <a:rPr lang="en-US" sz="3600">
                <a:solidFill>
                  <a:srgbClr val="FF914D"/>
                </a:solidFill>
                <a:latin typeface="Fredoka"/>
                <a:ea typeface="Fredoka"/>
                <a:cs typeface="Fredoka"/>
                <a:sym typeface="Fredoka"/>
              </a:rPr>
              <a:t>0.2566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EBE8"/>
        </a:solidFill>
        <a:effectLst/>
      </p:bgPr>
    </p:bg>
    <p:spTree>
      <p:nvGrpSpPr>
        <p:cNvPr id="1" name=""/>
        <p:cNvGrpSpPr/>
        <p:nvPr/>
      </p:nvGrpSpPr>
      <p:grpSpPr>
        <a:xfrm>
          <a:off x="0" y="0"/>
          <a:ext cx="0" cy="0"/>
          <a:chOff x="0" y="0"/>
          <a:chExt cx="0" cy="0"/>
        </a:xfrm>
      </p:grpSpPr>
      <p:sp>
        <p:nvSpPr>
          <p:cNvPr id="2" name="Freeform 2"/>
          <p:cNvSpPr/>
          <p:nvPr/>
        </p:nvSpPr>
        <p:spPr>
          <a:xfrm>
            <a:off x="2231936" y="1629104"/>
            <a:ext cx="14187598" cy="8285055"/>
          </a:xfrm>
          <a:custGeom>
            <a:avLst/>
            <a:gdLst/>
            <a:ahLst/>
            <a:cxnLst/>
            <a:rect l="l" t="t" r="r" b="b"/>
            <a:pathLst>
              <a:path w="14187598" h="8285055">
                <a:moveTo>
                  <a:pt x="0" y="0"/>
                </a:moveTo>
                <a:lnTo>
                  <a:pt x="14187598" y="0"/>
                </a:lnTo>
                <a:lnTo>
                  <a:pt x="14187598" y="8285055"/>
                </a:lnTo>
                <a:lnTo>
                  <a:pt x="0" y="8285055"/>
                </a:lnTo>
                <a:lnTo>
                  <a:pt x="0" y="0"/>
                </a:lnTo>
                <a:close/>
              </a:path>
            </a:pathLst>
          </a:custGeom>
          <a:blipFill>
            <a:blip r:embed="rId3"/>
            <a:stretch>
              <a:fillRect l="-1158" r="-4841"/>
            </a:stretch>
          </a:blipFill>
        </p:spPr>
        <p:txBody>
          <a:bodyPr/>
          <a:lstStyle/>
          <a:p>
            <a:endParaRPr lang="en-US"/>
          </a:p>
        </p:txBody>
      </p:sp>
      <p:sp>
        <p:nvSpPr>
          <p:cNvPr id="3" name="TextBox 3"/>
          <p:cNvSpPr txBox="1"/>
          <p:nvPr/>
        </p:nvSpPr>
        <p:spPr>
          <a:xfrm>
            <a:off x="6588874" y="483572"/>
            <a:ext cx="7025210" cy="918210"/>
          </a:xfrm>
          <a:prstGeom prst="rect">
            <a:avLst/>
          </a:prstGeom>
        </p:spPr>
        <p:txBody>
          <a:bodyPr lIns="0" tIns="0" rIns="0" bIns="0" rtlCol="0" anchor="t">
            <a:spAutoFit/>
          </a:bodyPr>
          <a:lstStyle/>
          <a:p>
            <a:pPr marL="0" lvl="0" indent="0" algn="just">
              <a:lnSpc>
                <a:spcPts val="6900"/>
              </a:lnSpc>
              <a:spcBef>
                <a:spcPct val="0"/>
              </a:spcBef>
            </a:pPr>
            <a:r>
              <a:rPr lang="en-US" sz="6900">
                <a:solidFill>
                  <a:srgbClr val="75B6B1"/>
                </a:solidFill>
                <a:latin typeface="Fredoka"/>
                <a:ea typeface="Fredoka"/>
                <a:cs typeface="Fredoka"/>
                <a:sym typeface="Fredoka"/>
              </a:rPr>
              <a:t>RELATED 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EBE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862085"/>
          <a:ext cx="16182001" cy="8213442"/>
        </p:xfrm>
        <a:graphic>
          <a:graphicData uri="http://schemas.openxmlformats.org/drawingml/2006/table">
            <a:tbl>
              <a:tblPr/>
              <a:tblGrid>
                <a:gridCol w="1388220">
                  <a:extLst>
                    <a:ext uri="{9D8B030D-6E8A-4147-A177-3AD203B41FA5}">
                      <a16:colId xmlns:a16="http://schemas.microsoft.com/office/drawing/2014/main" val="20000"/>
                    </a:ext>
                  </a:extLst>
                </a:gridCol>
                <a:gridCol w="2215454">
                  <a:extLst>
                    <a:ext uri="{9D8B030D-6E8A-4147-A177-3AD203B41FA5}">
                      <a16:colId xmlns:a16="http://schemas.microsoft.com/office/drawing/2014/main" val="20001"/>
                    </a:ext>
                  </a:extLst>
                </a:gridCol>
                <a:gridCol w="6635291">
                  <a:extLst>
                    <a:ext uri="{9D8B030D-6E8A-4147-A177-3AD203B41FA5}">
                      <a16:colId xmlns:a16="http://schemas.microsoft.com/office/drawing/2014/main" val="20002"/>
                    </a:ext>
                  </a:extLst>
                </a:gridCol>
                <a:gridCol w="2977011">
                  <a:extLst>
                    <a:ext uri="{9D8B030D-6E8A-4147-A177-3AD203B41FA5}">
                      <a16:colId xmlns:a16="http://schemas.microsoft.com/office/drawing/2014/main" val="20003"/>
                    </a:ext>
                  </a:extLst>
                </a:gridCol>
                <a:gridCol w="2966025">
                  <a:extLst>
                    <a:ext uri="{9D8B030D-6E8A-4147-A177-3AD203B41FA5}">
                      <a16:colId xmlns:a16="http://schemas.microsoft.com/office/drawing/2014/main" val="20004"/>
                    </a:ext>
                  </a:extLst>
                </a:gridCol>
              </a:tblGrid>
              <a:tr h="702289">
                <a:tc>
                  <a:txBody>
                    <a:bodyPr/>
                    <a:lstStyle/>
                    <a:p>
                      <a:pPr algn="ctr">
                        <a:lnSpc>
                          <a:spcPts val="2800"/>
                        </a:lnSpc>
                        <a:defRPr/>
                      </a:pPr>
                      <a:r>
                        <a:rPr lang="en-US" sz="2000">
                          <a:solidFill>
                            <a:srgbClr val="6D563C"/>
                          </a:solidFill>
                          <a:latin typeface="Fredoka"/>
                          <a:ea typeface="Fredoka"/>
                          <a:cs typeface="Fredoka"/>
                          <a:sym typeface="Fredoka"/>
                        </a:rPr>
                        <a:t>Year</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Model Name</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Methodology</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Data (Interactions)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Results (MSE, CI)</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0"/>
                  </a:ext>
                </a:extLst>
              </a:tr>
              <a:tr h="938894">
                <a:tc>
                  <a:txBody>
                    <a:bodyPr/>
                    <a:lstStyle/>
                    <a:p>
                      <a:pPr algn="ctr">
                        <a:lnSpc>
                          <a:spcPts val="2800"/>
                        </a:lnSpc>
                        <a:defRPr/>
                      </a:pPr>
                      <a:r>
                        <a:rPr lang="en-US" sz="2000">
                          <a:solidFill>
                            <a:srgbClr val="6D563C"/>
                          </a:solidFill>
                          <a:latin typeface="Fredoka"/>
                          <a:ea typeface="Fredoka"/>
                          <a:cs typeface="Fredoka"/>
                          <a:sym typeface="Fredoka"/>
                        </a:rPr>
                        <a:t>2023</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CMPNN </a:t>
                      </a:r>
                      <a:r>
                        <a:rPr lang="en-US" sz="2000">
                          <a:solidFill>
                            <a:srgbClr val="6D563C"/>
                          </a:solidFill>
                          <a:latin typeface="Fredoka"/>
                          <a:ea typeface="Fredoka"/>
                          <a:cs typeface="Fredoka"/>
                          <a:sym typeface="Fredoka"/>
                          <a:hlinkClick r:id="rId3" tooltip="https://bmcgenomics.biomedcentral.com/articles/10.1186/s12864-023-09664-z"/>
                        </a:rPr>
                        <a:t>¹</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C-MPNN combined with CPCProt &amp; MLM for representation</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Ki: 35,056</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0.421, CI: 0.891</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1"/>
                  </a:ext>
                </a:extLst>
              </a:tr>
              <a:tr h="938894">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GEFormerDTA </a:t>
                      </a:r>
                      <a:r>
                        <a:rPr lang="en-US" sz="2000">
                          <a:solidFill>
                            <a:srgbClr val="6D563C"/>
                          </a:solidFill>
                          <a:latin typeface="Fredoka"/>
                          <a:ea typeface="Fredoka"/>
                          <a:cs typeface="Fredoka"/>
                          <a:sym typeface="Fredoka"/>
                          <a:hlinkClick r:id="rId3" tooltip="https://bmcgenomics.biomedcentral.com/articles/10.1186/s12864-023-09664-z"/>
                        </a:rPr>
                        <a:t>²</a:t>
                      </a:r>
                      <a:endParaRPr lang="en-US" sz="1100"/>
                    </a:p>
                    <a:p>
                      <a:pPr algn="ctr">
                        <a:lnSpc>
                          <a:spcPts val="2800"/>
                        </a:lnSpc>
                      </a:pP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Transformer-based graph fusion</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Davis: 30,056, KIBA: 118,254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0.215, CI: 0.903</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2"/>
                  </a:ext>
                </a:extLst>
              </a:tr>
              <a:tr h="938894">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GLCN-DTA </a:t>
                      </a:r>
                      <a:r>
                        <a:rPr lang="en-US" sz="2000">
                          <a:solidFill>
                            <a:srgbClr val="6D563C"/>
                          </a:solidFill>
                          <a:latin typeface="Fredoka"/>
                          <a:ea typeface="Fredoka"/>
                          <a:cs typeface="Fredoka"/>
                          <a:sym typeface="Fredoka"/>
                          <a:hlinkClick r:id="rId4" tooltip="https://bmcbioinformatics.biomedcentral.com/articles/10.1186/s12859-024-05698-6"/>
                        </a:rPr>
                        <a:t>³</a:t>
                      </a:r>
                      <a:endParaRPr lang="en-US" sz="1100"/>
                    </a:p>
                    <a:p>
                      <a:pPr algn="ctr">
                        <a:lnSpc>
                          <a:spcPts val="2800"/>
                        </a:lnSpc>
                      </a:pP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Extended GCN with graph learning module</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Davis: 30,056, KIBA: 118,254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0.215, CI: 0.903</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3"/>
                  </a:ext>
                </a:extLst>
              </a:tr>
              <a:tr h="1293375">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Drug-Online </a:t>
                      </a:r>
                      <a:r>
                        <a:rPr lang="en-US" sz="2000">
                          <a:solidFill>
                            <a:srgbClr val="6D563C"/>
                          </a:solidFill>
                          <a:latin typeface="Fredoka"/>
                          <a:ea typeface="Fredoka"/>
                          <a:cs typeface="Fredoka"/>
                          <a:sym typeface="Fredoka"/>
                          <a:hlinkClick r:id="rId5" tooltip="https://bmcgenomics.biomedcentral.com/articles/10.1186/s12864-024-10326-x"/>
                        </a:rPr>
                        <a:t>⁴</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GNN and CNN-based platform for DTA, affinity, binding</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(BindingDB, PDB_Binding)Ki: 58,720 rows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0.443, CI: 0.774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4"/>
                  </a:ext>
                </a:extLst>
              </a:tr>
              <a:tr h="584414">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TAG-DTA </a:t>
                      </a:r>
                      <a:r>
                        <a:rPr lang="en-US" sz="2000">
                          <a:solidFill>
                            <a:srgbClr val="6D563C"/>
                          </a:solidFill>
                          <a:latin typeface="Fredoka"/>
                          <a:ea typeface="Fredoka"/>
                          <a:cs typeface="Fredoka"/>
                          <a:sym typeface="Fredoka"/>
                          <a:hlinkClick r:id="rId6" tooltip="https://academic.oup.com/bioinformatics/article/40/8/btae496/7730008"/>
                        </a:rPr>
                        <a:t>⁵</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Transformer-based, binding region-guided for DTA</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Davis: 947,195 rows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0.4557, CI: 0.905</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5"/>
                  </a:ext>
                </a:extLst>
              </a:tr>
              <a:tr h="938894">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MDF-DTA </a:t>
                      </a:r>
                      <a:r>
                        <a:rPr lang="en-US" sz="2000">
                          <a:solidFill>
                            <a:srgbClr val="6D563C"/>
                          </a:solidFill>
                          <a:latin typeface="Fredoka"/>
                          <a:ea typeface="Fredoka"/>
                          <a:cs typeface="Fredoka"/>
                          <a:sym typeface="Fredoka"/>
                          <a:hlinkClick r:id="rId7" tooltip="https://academic.oup.com/bioinformatics/article/39/9/btad560/7265395"/>
                        </a:rPr>
                        <a:t>⁶</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Multi-dimensional fusion with 1D, 2D, 3D representations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Davis: 30,056, KIBA: 118,254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0.146, CI: 0.892</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6"/>
                  </a:ext>
                </a:extLst>
              </a:tr>
              <a:tr h="938894">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CSCo-DTA </a:t>
                      </a:r>
                      <a:r>
                        <a:rPr lang="en-US" sz="2000">
                          <a:solidFill>
                            <a:srgbClr val="6D563C"/>
                          </a:solidFill>
                          <a:latin typeface="Fredoka"/>
                          <a:ea typeface="Fredoka"/>
                          <a:cs typeface="Fredoka"/>
                          <a:sym typeface="Fredoka"/>
                          <a:hlinkClick r:id="rId8" tooltip="https://academic.oup.com/bib/article/22/5/bbab117/6231754"/>
                        </a:rPr>
                        <a:t>⁷</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Cross-scale contrastive learning using GCN</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Davis: 30,056, KIBA: 118,254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tc>
                  <a:txBody>
                    <a:bodyPr/>
                    <a:lstStyle/>
                    <a:p>
                      <a:pPr algn="ctr">
                        <a:lnSpc>
                          <a:spcPts val="2800"/>
                        </a:lnSpc>
                        <a:defRPr/>
                      </a:pPr>
                      <a:r>
                        <a:rPr lang="en-US" sz="2000">
                          <a:solidFill>
                            <a:srgbClr val="6D563C"/>
                          </a:solidFill>
                          <a:latin typeface="Fredoka"/>
                          <a:ea typeface="Fredoka"/>
                          <a:cs typeface="Fredoka"/>
                          <a:sym typeface="Fredoka"/>
                        </a:rPr>
                        <a:t>MSE: 0.166, CI: 0.776</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tcPr>
                </a:tc>
                <a:extLst>
                  <a:ext uri="{0D108BD9-81ED-4DB2-BD59-A6C34878D82A}">
                    <a16:rowId xmlns:a16="http://schemas.microsoft.com/office/drawing/2014/main" val="10007"/>
                  </a:ext>
                </a:extLst>
              </a:tr>
              <a:tr h="938894">
                <a:tc>
                  <a:txBody>
                    <a:bodyPr/>
                    <a:lstStyle/>
                    <a:p>
                      <a:pPr algn="ctr">
                        <a:lnSpc>
                          <a:spcPts val="2800"/>
                        </a:lnSpc>
                        <a:defRPr/>
                      </a:pPr>
                      <a:r>
                        <a:rPr lang="en-US" sz="2000">
                          <a:solidFill>
                            <a:srgbClr val="6D563C"/>
                          </a:solidFill>
                          <a:latin typeface="Fredoka"/>
                          <a:ea typeface="Fredoka"/>
                          <a:cs typeface="Fredoka"/>
                          <a:sym typeface="Fredoka"/>
                        </a:rPr>
                        <a:t>2024</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solidFill>
                      <a:srgbClr val="D8E7D8"/>
                    </a:solidFill>
                  </a:tcPr>
                </a:tc>
                <a:tc>
                  <a:txBody>
                    <a:bodyPr/>
                    <a:lstStyle/>
                    <a:p>
                      <a:pPr algn="ctr">
                        <a:lnSpc>
                          <a:spcPts val="2800"/>
                        </a:lnSpc>
                        <a:defRPr/>
                      </a:pPr>
                      <a:r>
                        <a:rPr lang="en-US" sz="2000">
                          <a:solidFill>
                            <a:srgbClr val="6D563C"/>
                          </a:solidFill>
                          <a:latin typeface="Fredoka"/>
                          <a:ea typeface="Fredoka"/>
                          <a:cs typeface="Fredoka"/>
                          <a:sym typeface="Fredoka"/>
                        </a:rPr>
                        <a:t>DTI_DU   (Ours)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solidFill>
                      <a:srgbClr val="D8E7D8"/>
                    </a:solidFill>
                  </a:tcPr>
                </a:tc>
                <a:tc>
                  <a:txBody>
                    <a:bodyPr/>
                    <a:lstStyle/>
                    <a:p>
                      <a:pPr algn="ctr">
                        <a:lnSpc>
                          <a:spcPts val="2800"/>
                        </a:lnSpc>
                        <a:defRPr/>
                      </a:pPr>
                      <a:r>
                        <a:rPr lang="en-US" sz="2000">
                          <a:solidFill>
                            <a:srgbClr val="6D563C"/>
                          </a:solidFill>
                          <a:latin typeface="Fredoka"/>
                          <a:ea typeface="Fredoka"/>
                          <a:cs typeface="Fredoka"/>
                          <a:sym typeface="Fredoka"/>
                        </a:rPr>
                        <a:t>Hybrid model: Transformer + CNN for drug and protein sequences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solidFill>
                      <a:srgbClr val="D8E7D8"/>
                    </a:solidFill>
                  </a:tcPr>
                </a:tc>
                <a:tc>
                  <a:txBody>
                    <a:bodyPr/>
                    <a:lstStyle/>
                    <a:p>
                      <a:pPr algn="ctr">
                        <a:lnSpc>
                          <a:spcPts val="2800"/>
                        </a:lnSpc>
                        <a:defRPr/>
                      </a:pPr>
                      <a:r>
                        <a:rPr lang="en-US" sz="2000">
                          <a:solidFill>
                            <a:srgbClr val="6D563C"/>
                          </a:solidFill>
                          <a:latin typeface="Fredoka"/>
                          <a:ea typeface="Fredoka"/>
                          <a:cs typeface="Fredoka"/>
                          <a:sym typeface="Fredoka"/>
                        </a:rPr>
                        <a:t>Davis(Kd) : 42,236 rows</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solidFill>
                      <a:srgbClr val="D8E7D8"/>
                    </a:solidFill>
                  </a:tcPr>
                </a:tc>
                <a:tc>
                  <a:txBody>
                    <a:bodyPr/>
                    <a:lstStyle/>
                    <a:p>
                      <a:pPr algn="ctr">
                        <a:lnSpc>
                          <a:spcPts val="2800"/>
                        </a:lnSpc>
                        <a:defRPr/>
                      </a:pPr>
                      <a:r>
                        <a:rPr lang="en-US" sz="2000">
                          <a:solidFill>
                            <a:srgbClr val="6D563C"/>
                          </a:solidFill>
                          <a:latin typeface="Fredoka"/>
                          <a:ea typeface="Fredoka"/>
                          <a:cs typeface="Fredoka"/>
                          <a:sym typeface="Fredoka"/>
                        </a:rPr>
                        <a:t>MSE: 0.2566, CI: 0.8682</a:t>
                      </a:r>
                      <a:endParaRPr lang="en-US" sz="1100"/>
                    </a:p>
                  </a:txBody>
                  <a:tcPr marL="85725" marR="85725" marT="85725" marB="85725" anchor="ctr">
                    <a:lnL w="47625" cap="flat" cmpd="sng" algn="ctr">
                      <a:solidFill>
                        <a:srgbClr val="6D563C"/>
                      </a:solidFill>
                      <a:prstDash val="solid"/>
                      <a:round/>
                      <a:headEnd type="none" w="med" len="med"/>
                      <a:tailEnd type="none" w="med" len="med"/>
                    </a:lnL>
                    <a:lnR w="47625" cap="flat" cmpd="sng" algn="ctr">
                      <a:solidFill>
                        <a:srgbClr val="6D563C"/>
                      </a:solidFill>
                      <a:prstDash val="solid"/>
                      <a:round/>
                      <a:headEnd type="none" w="med" len="med"/>
                      <a:tailEnd type="none" w="med" len="med"/>
                    </a:lnR>
                    <a:lnT w="47625" cap="flat" cmpd="sng" algn="ctr">
                      <a:solidFill>
                        <a:srgbClr val="6D563C"/>
                      </a:solidFill>
                      <a:prstDash val="solid"/>
                      <a:round/>
                      <a:headEnd type="none" w="med" len="med"/>
                      <a:tailEnd type="none" w="med" len="med"/>
                    </a:lnT>
                    <a:lnB w="47625" cap="flat" cmpd="sng" algn="ctr">
                      <a:solidFill>
                        <a:srgbClr val="6D563C"/>
                      </a:solidFill>
                      <a:prstDash val="solid"/>
                      <a:round/>
                      <a:headEnd type="none" w="med" len="med"/>
                      <a:tailEnd type="none" w="med" len="med"/>
                    </a:lnB>
                    <a:solidFill>
                      <a:srgbClr val="D8E7D8"/>
                    </a:solidFill>
                  </a:tcPr>
                </a:tc>
                <a:extLst>
                  <a:ext uri="{0D108BD9-81ED-4DB2-BD59-A6C34878D82A}">
                    <a16:rowId xmlns:a16="http://schemas.microsoft.com/office/drawing/2014/main" val="10008"/>
                  </a:ext>
                </a:extLst>
              </a:tr>
            </a:tbl>
          </a:graphicData>
        </a:graphic>
      </p:graphicFrame>
      <p:sp>
        <p:nvSpPr>
          <p:cNvPr id="3" name="TextBox 3"/>
          <p:cNvSpPr txBox="1"/>
          <p:nvPr/>
        </p:nvSpPr>
        <p:spPr>
          <a:xfrm>
            <a:off x="5737865" y="401991"/>
            <a:ext cx="6812270" cy="882015"/>
          </a:xfrm>
          <a:prstGeom prst="rect">
            <a:avLst/>
          </a:prstGeom>
        </p:spPr>
        <p:txBody>
          <a:bodyPr lIns="0" tIns="0" rIns="0" bIns="0" rtlCol="0" anchor="t">
            <a:spAutoFit/>
          </a:bodyPr>
          <a:lstStyle/>
          <a:p>
            <a:pPr marL="0" lvl="0" indent="0" algn="just">
              <a:lnSpc>
                <a:spcPts val="6600"/>
              </a:lnSpc>
              <a:spcBef>
                <a:spcPct val="0"/>
              </a:spcBef>
            </a:pPr>
            <a:r>
              <a:rPr lang="en-US" sz="6600">
                <a:solidFill>
                  <a:srgbClr val="6D563C"/>
                </a:solidFill>
                <a:latin typeface="Fredoka"/>
                <a:ea typeface="Fredoka"/>
                <a:cs typeface="Fredoka"/>
                <a:sym typeface="Fredoka"/>
              </a:rPr>
              <a:t>RELATED WORK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BE8"/>
        </a:solidFill>
        <a:effectLst/>
      </p:bgPr>
    </p:bg>
    <p:spTree>
      <p:nvGrpSpPr>
        <p:cNvPr id="1" name=""/>
        <p:cNvGrpSpPr/>
        <p:nvPr/>
      </p:nvGrpSpPr>
      <p:grpSpPr>
        <a:xfrm>
          <a:off x="0" y="0"/>
          <a:ext cx="0" cy="0"/>
          <a:chOff x="0" y="0"/>
          <a:chExt cx="0" cy="0"/>
        </a:xfrm>
      </p:grpSpPr>
      <p:sp>
        <p:nvSpPr>
          <p:cNvPr id="2" name="Freeform 2"/>
          <p:cNvSpPr/>
          <p:nvPr/>
        </p:nvSpPr>
        <p:spPr>
          <a:xfrm>
            <a:off x="10266673" y="2395981"/>
            <a:ext cx="7891019" cy="7891019"/>
          </a:xfrm>
          <a:custGeom>
            <a:avLst/>
            <a:gdLst/>
            <a:ahLst/>
            <a:cxnLst/>
            <a:rect l="l" t="t" r="r" b="b"/>
            <a:pathLst>
              <a:path w="7891019" h="7891019">
                <a:moveTo>
                  <a:pt x="0" y="0"/>
                </a:moveTo>
                <a:lnTo>
                  <a:pt x="7891018" y="0"/>
                </a:lnTo>
                <a:lnTo>
                  <a:pt x="7891018" y="7891019"/>
                </a:lnTo>
                <a:lnTo>
                  <a:pt x="0" y="7891019"/>
                </a:lnTo>
                <a:lnTo>
                  <a:pt x="0" y="0"/>
                </a:lnTo>
                <a:close/>
              </a:path>
            </a:pathLst>
          </a:custGeom>
          <a:blipFill>
            <a:blip r:embed="rId3"/>
            <a:stretch>
              <a:fillRect/>
            </a:stretch>
          </a:blipFill>
        </p:spPr>
        <p:txBody>
          <a:bodyPr/>
          <a:lstStyle/>
          <a:p>
            <a:endParaRPr lang="en-US"/>
          </a:p>
        </p:txBody>
      </p:sp>
      <p:sp>
        <p:nvSpPr>
          <p:cNvPr id="3" name="Freeform 3"/>
          <p:cNvSpPr/>
          <p:nvPr/>
        </p:nvSpPr>
        <p:spPr>
          <a:xfrm>
            <a:off x="15062250" y="6923392"/>
            <a:ext cx="1322593" cy="774491"/>
          </a:xfrm>
          <a:custGeom>
            <a:avLst/>
            <a:gdLst/>
            <a:ahLst/>
            <a:cxnLst/>
            <a:rect l="l" t="t" r="r" b="b"/>
            <a:pathLst>
              <a:path w="1322593" h="774491">
                <a:moveTo>
                  <a:pt x="0" y="0"/>
                </a:moveTo>
                <a:lnTo>
                  <a:pt x="1322593" y="0"/>
                </a:lnTo>
                <a:lnTo>
                  <a:pt x="1322593" y="774492"/>
                </a:lnTo>
                <a:lnTo>
                  <a:pt x="0" y="774492"/>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151972" y="636270"/>
            <a:ext cx="14937821" cy="918210"/>
          </a:xfrm>
          <a:prstGeom prst="rect">
            <a:avLst/>
          </a:prstGeom>
        </p:spPr>
        <p:txBody>
          <a:bodyPr lIns="0" tIns="0" rIns="0" bIns="0" rtlCol="0" anchor="t">
            <a:spAutoFit/>
          </a:bodyPr>
          <a:lstStyle/>
          <a:p>
            <a:pPr marL="0" lvl="0" indent="0" algn="just">
              <a:lnSpc>
                <a:spcPts val="6900"/>
              </a:lnSpc>
              <a:spcBef>
                <a:spcPct val="0"/>
              </a:spcBef>
            </a:pPr>
            <a:r>
              <a:rPr lang="en-US" sz="6900" u="none" strike="noStrike">
                <a:solidFill>
                  <a:srgbClr val="6D563C"/>
                </a:solidFill>
                <a:latin typeface="Fredoka"/>
                <a:ea typeface="Fredoka"/>
                <a:cs typeface="Fredoka"/>
                <a:sym typeface="Fredoka"/>
              </a:rPr>
              <a:t>CONCLUSION AND FUTURE WORK</a:t>
            </a:r>
          </a:p>
        </p:txBody>
      </p:sp>
      <p:sp>
        <p:nvSpPr>
          <p:cNvPr id="5" name="TextBox 5"/>
          <p:cNvSpPr txBox="1"/>
          <p:nvPr/>
        </p:nvSpPr>
        <p:spPr>
          <a:xfrm>
            <a:off x="208346" y="2578284"/>
            <a:ext cx="10058326" cy="3672839"/>
          </a:xfrm>
          <a:prstGeom prst="rect">
            <a:avLst/>
          </a:prstGeom>
        </p:spPr>
        <p:txBody>
          <a:bodyPr lIns="0" tIns="0" rIns="0" bIns="0" rtlCol="0" anchor="t">
            <a:spAutoFit/>
          </a:bodyPr>
          <a:lstStyle/>
          <a:p>
            <a:pPr algn="ctr">
              <a:lnSpc>
                <a:spcPts val="3599"/>
              </a:lnSpc>
            </a:pPr>
            <a:r>
              <a:rPr lang="en-US" sz="3599">
                <a:solidFill>
                  <a:srgbClr val="000000"/>
                </a:solidFill>
                <a:latin typeface="Times New Roman"/>
                <a:ea typeface="Times New Roman"/>
                <a:cs typeface="Times New Roman"/>
                <a:sym typeface="Times New Roman"/>
              </a:rPr>
              <a:t>AI-driven drug discovery enhances efficiency and accuracy but faces challenges, including limited data access, lack of standardized KPIs for binding affinity, and the need for stronger collaboration with pharmacology experts to accelerate research.</a:t>
            </a:r>
          </a:p>
          <a:p>
            <a:pPr algn="ctr">
              <a:lnSpc>
                <a:spcPts val="3599"/>
              </a:lnSpc>
            </a:pPr>
            <a:endParaRPr lang="en-US" sz="3599">
              <a:solidFill>
                <a:srgbClr val="000000"/>
              </a:solidFill>
              <a:latin typeface="Times New Roman"/>
              <a:ea typeface="Times New Roman"/>
              <a:cs typeface="Times New Roman"/>
              <a:sym typeface="Times New Roman"/>
            </a:endParaRPr>
          </a:p>
          <a:p>
            <a:pPr algn="ctr">
              <a:lnSpc>
                <a:spcPts val="3599"/>
              </a:lnSpc>
            </a:pPr>
            <a:endParaRPr lang="en-US" sz="3599">
              <a:solidFill>
                <a:srgbClr val="000000"/>
              </a:solidFill>
              <a:latin typeface="Times New Roman"/>
              <a:ea typeface="Times New Roman"/>
              <a:cs typeface="Times New Roman"/>
              <a:sym typeface="Times New Roman"/>
            </a:endParaRPr>
          </a:p>
          <a:p>
            <a:pPr algn="ctr">
              <a:lnSpc>
                <a:spcPts val="3599"/>
              </a:lnSpc>
              <a:spcBef>
                <a:spcPct val="0"/>
              </a:spcBef>
            </a:pPr>
            <a:endParaRPr lang="en-US" sz="3599">
              <a:solidFill>
                <a:srgbClr val="000000"/>
              </a:solidFill>
              <a:latin typeface="Times New Roman"/>
              <a:ea typeface="Times New Roman"/>
              <a:cs typeface="Times New Roman"/>
              <a:sym typeface="Times New Roman"/>
            </a:endParaRPr>
          </a:p>
        </p:txBody>
      </p:sp>
      <p:sp>
        <p:nvSpPr>
          <p:cNvPr id="6" name="TextBox 6"/>
          <p:cNvSpPr txBox="1"/>
          <p:nvPr/>
        </p:nvSpPr>
        <p:spPr>
          <a:xfrm>
            <a:off x="47625" y="5637627"/>
            <a:ext cx="10058326" cy="4630419"/>
          </a:xfrm>
          <a:prstGeom prst="rect">
            <a:avLst/>
          </a:prstGeom>
        </p:spPr>
        <p:txBody>
          <a:bodyPr lIns="0" tIns="0" rIns="0" bIns="0" rtlCol="0" anchor="t">
            <a:spAutoFit/>
          </a:bodyPr>
          <a:lstStyle/>
          <a:p>
            <a:pPr algn="l">
              <a:lnSpc>
                <a:spcPts val="3999"/>
              </a:lnSpc>
            </a:pPr>
            <a:r>
              <a:rPr lang="en-US" sz="3999" b="1" u="sng">
                <a:solidFill>
                  <a:srgbClr val="000000"/>
                </a:solidFill>
                <a:latin typeface="Times New Roman Bold"/>
                <a:ea typeface="Times New Roman Bold"/>
                <a:cs typeface="Times New Roman Bold"/>
                <a:sym typeface="Times New Roman Bold"/>
              </a:rPr>
              <a:t>FUTURE WORK:</a:t>
            </a:r>
          </a:p>
          <a:p>
            <a:pPr algn="l">
              <a:lnSpc>
                <a:spcPts val="3599"/>
              </a:lnSpc>
            </a:pPr>
            <a:endParaRPr lang="en-US" sz="3999" b="1" u="sng">
              <a:solidFill>
                <a:srgbClr val="000000"/>
              </a:solidFill>
              <a:latin typeface="Times New Roman Bold"/>
              <a:ea typeface="Times New Roman Bold"/>
              <a:cs typeface="Times New Roman Bold"/>
              <a:sym typeface="Times New Roman Bold"/>
            </a:endParaRPr>
          </a:p>
          <a:p>
            <a:pPr marL="777230" lvl="1" indent="-388615" algn="l">
              <a:lnSpc>
                <a:spcPts val="3599"/>
              </a:lnSpc>
              <a:buFont typeface="Arial"/>
              <a:buChar char="•"/>
            </a:pPr>
            <a:r>
              <a:rPr lang="en-US" sz="3599">
                <a:solidFill>
                  <a:srgbClr val="000000"/>
                </a:solidFill>
                <a:latin typeface="Times New Roman"/>
                <a:ea typeface="Times New Roman"/>
                <a:cs typeface="Times New Roman"/>
                <a:sym typeface="Times New Roman"/>
              </a:rPr>
              <a:t>Expand data access to diverse and high-quality sources.</a:t>
            </a:r>
          </a:p>
          <a:p>
            <a:pPr algn="l">
              <a:lnSpc>
                <a:spcPts val="3599"/>
              </a:lnSpc>
            </a:pPr>
            <a:endParaRPr lang="en-US" sz="3599">
              <a:solidFill>
                <a:srgbClr val="000000"/>
              </a:solidFill>
              <a:latin typeface="Times New Roman"/>
              <a:ea typeface="Times New Roman"/>
              <a:cs typeface="Times New Roman"/>
              <a:sym typeface="Times New Roman"/>
            </a:endParaRPr>
          </a:p>
          <a:p>
            <a:pPr marL="777230" lvl="1" indent="-388615" algn="l">
              <a:lnSpc>
                <a:spcPts val="3599"/>
              </a:lnSpc>
              <a:buFont typeface="Arial"/>
              <a:buChar char="•"/>
            </a:pPr>
            <a:r>
              <a:rPr lang="en-US" sz="3599">
                <a:solidFill>
                  <a:srgbClr val="000000"/>
                </a:solidFill>
                <a:latin typeface="Times New Roman"/>
                <a:ea typeface="Times New Roman"/>
                <a:cs typeface="Times New Roman"/>
                <a:sym typeface="Times New Roman"/>
              </a:rPr>
              <a:t>Establish KPIs for binding affinity threshold.</a:t>
            </a:r>
          </a:p>
          <a:p>
            <a:pPr algn="l">
              <a:lnSpc>
                <a:spcPts val="3599"/>
              </a:lnSpc>
            </a:pPr>
            <a:endParaRPr lang="en-US" sz="3599">
              <a:solidFill>
                <a:srgbClr val="000000"/>
              </a:solidFill>
              <a:latin typeface="Times New Roman"/>
              <a:ea typeface="Times New Roman"/>
              <a:cs typeface="Times New Roman"/>
              <a:sym typeface="Times New Roman"/>
            </a:endParaRPr>
          </a:p>
          <a:p>
            <a:pPr marL="777230" lvl="1" indent="-388615" algn="l">
              <a:lnSpc>
                <a:spcPts val="3599"/>
              </a:lnSpc>
              <a:buFont typeface="Arial"/>
              <a:buChar char="•"/>
            </a:pPr>
            <a:r>
              <a:rPr lang="en-US" sz="3599">
                <a:solidFill>
                  <a:srgbClr val="000000"/>
                </a:solidFill>
                <a:latin typeface="Times New Roman"/>
                <a:ea typeface="Times New Roman"/>
                <a:cs typeface="Times New Roman"/>
                <a:sym typeface="Times New Roman"/>
              </a:rPr>
              <a:t>Enhance collaboration with pharmacology experts to walk faster in research stages.</a:t>
            </a:r>
          </a:p>
          <a:p>
            <a:pPr algn="l">
              <a:lnSpc>
                <a:spcPts val="3599"/>
              </a:lnSpc>
              <a:spcBef>
                <a:spcPct val="0"/>
              </a:spcBef>
            </a:pPr>
            <a:endParaRPr lang="en-US" sz="3599">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8E7D8"/>
        </a:solidFill>
        <a:effectLst/>
      </p:bgPr>
    </p:bg>
    <p:spTree>
      <p:nvGrpSpPr>
        <p:cNvPr id="1" name=""/>
        <p:cNvGrpSpPr/>
        <p:nvPr/>
      </p:nvGrpSpPr>
      <p:grpSpPr>
        <a:xfrm>
          <a:off x="0" y="0"/>
          <a:ext cx="0" cy="0"/>
          <a:chOff x="0" y="0"/>
          <a:chExt cx="0" cy="0"/>
        </a:xfrm>
      </p:grpSpPr>
      <p:sp>
        <p:nvSpPr>
          <p:cNvPr id="2" name="Freeform 2"/>
          <p:cNvSpPr/>
          <p:nvPr/>
        </p:nvSpPr>
        <p:spPr>
          <a:xfrm>
            <a:off x="-675272" y="-826277"/>
            <a:ext cx="19465988" cy="4544321"/>
          </a:xfrm>
          <a:custGeom>
            <a:avLst/>
            <a:gdLst/>
            <a:ahLst/>
            <a:cxnLst/>
            <a:rect l="l" t="t" r="r" b="b"/>
            <a:pathLst>
              <a:path w="19465988" h="4544321">
                <a:moveTo>
                  <a:pt x="0" y="0"/>
                </a:moveTo>
                <a:lnTo>
                  <a:pt x="19465988" y="0"/>
                </a:lnTo>
                <a:lnTo>
                  <a:pt x="19465988" y="4544321"/>
                </a:lnTo>
                <a:lnTo>
                  <a:pt x="0" y="45443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hlinkClick r:id="rId5" tooltip="https://drugtargetinteraction.nicepage.io"/>
          </p:cNvPr>
          <p:cNvSpPr/>
          <p:nvPr/>
        </p:nvSpPr>
        <p:spPr>
          <a:xfrm>
            <a:off x="5914068" y="3066719"/>
            <a:ext cx="6860259" cy="6974553"/>
          </a:xfrm>
          <a:custGeom>
            <a:avLst/>
            <a:gdLst/>
            <a:ahLst/>
            <a:cxnLst/>
            <a:rect l="l" t="t" r="r" b="b"/>
            <a:pathLst>
              <a:path w="6860259" h="6974553">
                <a:moveTo>
                  <a:pt x="0" y="0"/>
                </a:moveTo>
                <a:lnTo>
                  <a:pt x="6860259" y="0"/>
                </a:lnTo>
                <a:lnTo>
                  <a:pt x="6860259" y="6974553"/>
                </a:lnTo>
                <a:lnTo>
                  <a:pt x="0" y="6974553"/>
                </a:lnTo>
                <a:lnTo>
                  <a:pt x="0" y="0"/>
                </a:lnTo>
                <a:close/>
              </a:path>
            </a:pathLst>
          </a:custGeom>
          <a:blipFill>
            <a:blip r:embed="rId6"/>
            <a:stretch>
              <a:fillRect r="-1666"/>
            </a:stretch>
          </a:blipFill>
        </p:spPr>
        <p:txBody>
          <a:bodyPr/>
          <a:lstStyle/>
          <a:p>
            <a:endParaRPr lang="en-US"/>
          </a:p>
        </p:txBody>
      </p:sp>
      <p:sp>
        <p:nvSpPr>
          <p:cNvPr id="4" name="Freeform 4"/>
          <p:cNvSpPr/>
          <p:nvPr/>
        </p:nvSpPr>
        <p:spPr>
          <a:xfrm>
            <a:off x="13950116" y="3739829"/>
            <a:ext cx="3616566" cy="5075883"/>
          </a:xfrm>
          <a:custGeom>
            <a:avLst/>
            <a:gdLst/>
            <a:ahLst/>
            <a:cxnLst/>
            <a:rect l="l" t="t" r="r" b="b"/>
            <a:pathLst>
              <a:path w="3616566" h="5075883">
                <a:moveTo>
                  <a:pt x="0" y="0"/>
                </a:moveTo>
                <a:lnTo>
                  <a:pt x="3616566" y="0"/>
                </a:lnTo>
                <a:lnTo>
                  <a:pt x="3616566" y="5075883"/>
                </a:lnTo>
                <a:lnTo>
                  <a:pt x="0" y="507588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Freeform 5"/>
          <p:cNvSpPr/>
          <p:nvPr/>
        </p:nvSpPr>
        <p:spPr>
          <a:xfrm flipH="1">
            <a:off x="609600" y="3739829"/>
            <a:ext cx="3616566" cy="5075883"/>
          </a:xfrm>
          <a:custGeom>
            <a:avLst/>
            <a:gdLst/>
            <a:ahLst/>
            <a:cxnLst/>
            <a:rect l="l" t="t" r="r" b="b"/>
            <a:pathLst>
              <a:path w="3616566" h="5075883">
                <a:moveTo>
                  <a:pt x="3616566" y="0"/>
                </a:moveTo>
                <a:lnTo>
                  <a:pt x="0" y="0"/>
                </a:lnTo>
                <a:lnTo>
                  <a:pt x="0" y="5075883"/>
                </a:lnTo>
                <a:lnTo>
                  <a:pt x="3616566" y="5075883"/>
                </a:lnTo>
                <a:lnTo>
                  <a:pt x="3616566"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TextBox 6"/>
          <p:cNvSpPr txBox="1"/>
          <p:nvPr/>
        </p:nvSpPr>
        <p:spPr>
          <a:xfrm>
            <a:off x="1121714" y="558615"/>
            <a:ext cx="16444969" cy="2412854"/>
          </a:xfrm>
          <a:prstGeom prst="rect">
            <a:avLst/>
          </a:prstGeom>
        </p:spPr>
        <p:txBody>
          <a:bodyPr lIns="0" tIns="0" rIns="0" bIns="0" rtlCol="0" anchor="t">
            <a:spAutoFit/>
          </a:bodyPr>
          <a:lstStyle/>
          <a:p>
            <a:pPr marL="0" lvl="0" indent="0" algn="ctr">
              <a:lnSpc>
                <a:spcPts val="6218"/>
              </a:lnSpc>
              <a:spcBef>
                <a:spcPct val="0"/>
              </a:spcBef>
            </a:pPr>
            <a:r>
              <a:rPr lang="en-US" sz="6218" u="none" strike="noStrike">
                <a:solidFill>
                  <a:srgbClr val="6D563C"/>
                </a:solidFill>
                <a:latin typeface="Fredoka"/>
                <a:ea typeface="Fredoka"/>
                <a:cs typeface="Fredoka"/>
                <a:sym typeface="Fredoka"/>
              </a:rPr>
              <a:t>THANK YOU! </a:t>
            </a:r>
          </a:p>
          <a:p>
            <a:pPr marL="0" lvl="0" indent="0" algn="ctr">
              <a:lnSpc>
                <a:spcPts val="6218"/>
              </a:lnSpc>
              <a:spcBef>
                <a:spcPct val="0"/>
              </a:spcBef>
            </a:pPr>
            <a:r>
              <a:rPr lang="en-US" sz="6218" u="none" strike="noStrike">
                <a:solidFill>
                  <a:srgbClr val="6D563C"/>
                </a:solidFill>
                <a:latin typeface="Fredoka"/>
                <a:ea typeface="Fredoka"/>
                <a:cs typeface="Fredoka"/>
                <a:sym typeface="Fredoka"/>
              </a:rPr>
              <a:t>AND WE’ARE PLEASED </a:t>
            </a:r>
          </a:p>
          <a:p>
            <a:pPr marL="0" lvl="0" indent="0" algn="ctr">
              <a:lnSpc>
                <a:spcPts val="6218"/>
              </a:lnSpc>
              <a:spcBef>
                <a:spcPct val="0"/>
              </a:spcBef>
            </a:pPr>
            <a:r>
              <a:rPr lang="en-US" sz="6218" u="none" strike="noStrike">
                <a:solidFill>
                  <a:srgbClr val="6D563C"/>
                </a:solidFill>
                <a:latin typeface="Fredoka"/>
                <a:ea typeface="Fredoka"/>
                <a:cs typeface="Fredoka"/>
                <a:sym typeface="Fredoka"/>
              </a:rPr>
              <a:t>TO CONTACT OUR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1053</Words>
  <Application>Microsoft Office PowerPoint</Application>
  <PresentationFormat>Custom</PresentationFormat>
  <Paragraphs>211</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Lilita One</vt:lpstr>
      <vt:lpstr>Calibri</vt:lpstr>
      <vt:lpstr>Arial</vt:lpstr>
      <vt:lpstr>Questrial</vt:lpstr>
      <vt:lpstr>Fredoka</vt:lpstr>
      <vt:lpstr>Arimo</vt:lpstr>
      <vt:lpstr>Times New Roman</vt:lpstr>
      <vt:lpstr>Times New Roman Bold</vt:lpstr>
      <vt:lpstr>Arimo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DTI Conference Presentation</dc:title>
  <cp:lastModifiedBy>Kareem Fady Abdelkarim</cp:lastModifiedBy>
  <cp:revision>2</cp:revision>
  <dcterms:created xsi:type="dcterms:W3CDTF">2006-08-16T00:00:00Z</dcterms:created>
  <dcterms:modified xsi:type="dcterms:W3CDTF">2024-11-16T12:48:38Z</dcterms:modified>
  <dc:identifier>DAGWTv8ZuTs</dc:identifier>
</cp:coreProperties>
</file>